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Montserrat Bold" panose="020B0604020202020204" charset="0"/>
      <p:regular r:id="rId19"/>
    </p:embeddedFont>
    <p:embeddedFont>
      <p:font typeface="Montserrat Semi-Bold" panose="020B0604020202020204" charset="0"/>
      <p:regular r:id="rId20"/>
    </p:embeddedFont>
    <p:embeddedFont>
      <p:font typeface="Poppins" panose="020B0604020202020204" charset="0"/>
      <p:regular r:id="rId21"/>
    </p:embeddedFont>
    <p:embeddedFont>
      <p:font typeface="Poppins Bold" panose="020B0604020202020204" charset="0"/>
      <p:regular r:id="rId22"/>
    </p:embeddedFont>
    <p:embeddedFont>
      <p:font typeface="Poppins Semi-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9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png"/><Relationship Id="rId5" Type="http://schemas.openxmlformats.org/officeDocument/2006/relationships/oleObject" Target="../embeddings/oleObject1.bin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Freeform 7"/>
          <p:cNvSpPr/>
          <p:nvPr/>
        </p:nvSpPr>
        <p:spPr>
          <a:xfrm>
            <a:off x="16910321" y="8536723"/>
            <a:ext cx="1110882" cy="1443155"/>
          </a:xfrm>
          <a:custGeom>
            <a:avLst/>
            <a:gdLst/>
            <a:ahLst/>
            <a:cxnLst/>
            <a:rect l="l" t="t" r="r" b="b"/>
            <a:pathLst>
              <a:path w="1110882" h="1443155">
                <a:moveTo>
                  <a:pt x="0" y="0"/>
                </a:moveTo>
                <a:lnTo>
                  <a:pt x="1110882" y="0"/>
                </a:lnTo>
                <a:lnTo>
                  <a:pt x="1110882" y="1443154"/>
                </a:lnTo>
                <a:lnTo>
                  <a:pt x="0" y="14431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2052" name="Picture 4" descr="This may contain: the netflix logo is shown in front of a wall of movies">
            <a:extLst>
              <a:ext uri="{FF2B5EF4-FFF2-40B4-BE49-F238E27FC236}">
                <a16:creationId xmlns:a16="http://schemas.microsoft.com/office/drawing/2014/main" id="{BA9711FD-B56C-46E3-8BBD-B59DF11534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636" y="10391"/>
            <a:ext cx="18274145" cy="1028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A353E8D-5F8B-4849-97A0-5D539FAC5509}"/>
              </a:ext>
            </a:extLst>
          </p:cNvPr>
          <p:cNvSpPr txBox="1"/>
          <p:nvPr/>
        </p:nvSpPr>
        <p:spPr>
          <a:xfrm>
            <a:off x="48491" y="1638300"/>
            <a:ext cx="80772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2"/>
                </a:solidFill>
                <a:latin typeface="Poppins" panose="020B0604020202020204" charset="0"/>
                <a:cs typeface="Poppins" panose="020B0604020202020204" charset="0"/>
              </a:rPr>
              <a:t>NETFLIX DATA ANALYTICS PROJECT</a:t>
            </a:r>
          </a:p>
          <a:p>
            <a:r>
              <a:rPr lang="en-US" sz="2000" b="1" dirty="0">
                <a:solidFill>
                  <a:schemeClr val="bg2"/>
                </a:solidFill>
                <a:latin typeface="Poppins" panose="020B0604020202020204" charset="0"/>
                <a:cs typeface="Poppins" panose="020B0604020202020204" charset="0"/>
              </a:rPr>
              <a:t>AN END-TO-END DATA ANALYSIS USING PYTHON, SQL, POWER BI &amp; TABLEAU</a:t>
            </a:r>
          </a:p>
          <a:p>
            <a:endParaRPr lang="en-US" sz="2000" b="1" dirty="0">
              <a:solidFill>
                <a:schemeClr val="bg2"/>
              </a:solidFill>
              <a:latin typeface="Poppins" panose="020B0604020202020204" charset="0"/>
              <a:cs typeface="Poppins" panose="020B0604020202020204" charset="0"/>
            </a:endParaRPr>
          </a:p>
          <a:p>
            <a:r>
              <a:rPr lang="en-US" sz="2000" b="1" dirty="0">
                <a:solidFill>
                  <a:schemeClr val="bg2"/>
                </a:solidFill>
                <a:latin typeface="Poppins" panose="020B0604020202020204" charset="0"/>
                <a:cs typeface="Poppins" panose="020B0604020202020204" charset="0"/>
              </a:rPr>
              <a:t>By Daweep Kaur</a:t>
            </a:r>
          </a:p>
          <a:p>
            <a:endParaRPr lang="en-US" sz="2000" b="1" dirty="0">
              <a:solidFill>
                <a:schemeClr val="bg2"/>
              </a:solidFill>
              <a:latin typeface="Poppins" panose="020B0604020202020204" charset="0"/>
              <a:cs typeface="Poppins" panose="020B0604020202020204" charset="0"/>
            </a:endParaRPr>
          </a:p>
          <a:p>
            <a:r>
              <a:rPr lang="en-US" sz="2000" b="1" dirty="0">
                <a:solidFill>
                  <a:schemeClr val="bg2"/>
                </a:solidFill>
                <a:latin typeface="Poppins" panose="020B0604020202020204" charset="0"/>
                <a:cs typeface="Poppins" panose="020B0604020202020204" charset="0"/>
              </a:rPr>
              <a:t>TOOLS &amp; TECHNOLOGIES</a:t>
            </a:r>
          </a:p>
          <a:p>
            <a:r>
              <a:rPr lang="en-US" sz="2000" b="1" dirty="0">
                <a:solidFill>
                  <a:schemeClr val="bg2"/>
                </a:solidFill>
                <a:latin typeface="Poppins" panose="020B0604020202020204" charset="0"/>
                <a:cs typeface="Poppins" panose="020B0604020202020204" charset="0"/>
              </a:rPr>
              <a:t>Python (Pandas, Matplotlib) | SQL | Power BI | Tableau | Excel</a:t>
            </a:r>
          </a:p>
          <a:p>
            <a:endParaRPr lang="en-US" sz="2000" b="1" dirty="0">
              <a:solidFill>
                <a:schemeClr val="bg2"/>
              </a:solidFill>
              <a:latin typeface="Poppins" panose="020B0604020202020204" charset="0"/>
              <a:cs typeface="Poppins" panose="020B0604020202020204" charset="0"/>
            </a:endParaRPr>
          </a:p>
          <a:p>
            <a:r>
              <a:rPr lang="en-US" sz="2000" b="1" dirty="0">
                <a:solidFill>
                  <a:schemeClr val="bg2"/>
                </a:solidFill>
                <a:latin typeface="Poppins" panose="020B0604020202020204" charset="0"/>
                <a:cs typeface="Poppins" panose="020B0604020202020204" charset="0"/>
              </a:rPr>
              <a:t>FOCUS AREAS</a:t>
            </a:r>
          </a:p>
          <a:p>
            <a:r>
              <a:rPr lang="en-US" sz="2000" b="1" dirty="0">
                <a:solidFill>
                  <a:schemeClr val="bg2"/>
                </a:solidFill>
                <a:latin typeface="Poppins" panose="020B0604020202020204" charset="0"/>
                <a:cs typeface="Poppins" panose="020B0604020202020204" charset="0"/>
              </a:rPr>
              <a:t>Content Trends • Genre Analysis • Country-wise Production • Growth Over Time</a:t>
            </a:r>
          </a:p>
          <a:p>
            <a:endParaRPr lang="en-US" sz="2000" b="1" dirty="0">
              <a:solidFill>
                <a:schemeClr val="bg2"/>
              </a:solidFill>
              <a:latin typeface="Poppins" panose="020B0604020202020204" charset="0"/>
              <a:cs typeface="Poppins" panose="020B0604020202020204" charset="0"/>
            </a:endParaRPr>
          </a:p>
          <a:p>
            <a:r>
              <a:rPr lang="en-US" sz="2000" b="1" dirty="0">
                <a:solidFill>
                  <a:schemeClr val="bg2"/>
                </a:solidFill>
                <a:latin typeface="Poppins" panose="020B0604020202020204" charset="0"/>
                <a:cs typeface="Poppins" panose="020B0604020202020204" charset="0"/>
              </a:rPr>
              <a:t>Portfolio Project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3543" y="5443"/>
            <a:ext cx="18298886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Freeform 4"/>
          <p:cNvSpPr/>
          <p:nvPr/>
        </p:nvSpPr>
        <p:spPr>
          <a:xfrm>
            <a:off x="352878" y="4716424"/>
            <a:ext cx="852599" cy="854152"/>
          </a:xfrm>
          <a:custGeom>
            <a:avLst/>
            <a:gdLst/>
            <a:ahLst/>
            <a:cxnLst/>
            <a:rect l="l" t="t" r="r" b="b"/>
            <a:pathLst>
              <a:path w="852599" h="854152">
                <a:moveTo>
                  <a:pt x="0" y="0"/>
                </a:moveTo>
                <a:lnTo>
                  <a:pt x="852599" y="0"/>
                </a:lnTo>
                <a:lnTo>
                  <a:pt x="852599" y="854153"/>
                </a:lnTo>
                <a:lnTo>
                  <a:pt x="0" y="8541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Freeform 5"/>
          <p:cNvSpPr/>
          <p:nvPr/>
        </p:nvSpPr>
        <p:spPr>
          <a:xfrm flipH="1">
            <a:off x="17316519" y="4716424"/>
            <a:ext cx="852599" cy="854152"/>
          </a:xfrm>
          <a:custGeom>
            <a:avLst/>
            <a:gdLst/>
            <a:ahLst/>
            <a:cxnLst/>
            <a:rect l="l" t="t" r="r" b="b"/>
            <a:pathLst>
              <a:path w="852599" h="854152">
                <a:moveTo>
                  <a:pt x="852599" y="0"/>
                </a:moveTo>
                <a:lnTo>
                  <a:pt x="0" y="0"/>
                </a:lnTo>
                <a:lnTo>
                  <a:pt x="0" y="854153"/>
                </a:lnTo>
                <a:lnTo>
                  <a:pt x="852599" y="854153"/>
                </a:lnTo>
                <a:lnTo>
                  <a:pt x="85259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1061EA-94CC-4C16-A9B9-3C292CF1FA04}"/>
              </a:ext>
            </a:extLst>
          </p:cNvPr>
          <p:cNvSpPr/>
          <p:nvPr/>
        </p:nvSpPr>
        <p:spPr>
          <a:xfrm>
            <a:off x="1417703" y="623395"/>
            <a:ext cx="5612863" cy="84582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stA="0" endPos="64000" dist="5080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400" dirty="0">
                <a:solidFill>
                  <a:srgbClr val="C00000"/>
                </a:solidFill>
              </a:rPr>
              <a:t>PROJECT OBJECTIVE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sz="2800" dirty="0">
                <a:solidFill>
                  <a:schemeClr val="bg2"/>
                </a:solidFill>
              </a:rPr>
              <a:t>To analyze Netflix’s global content library using data analytics techniques and uncover key insights related to:</a:t>
            </a:r>
          </a:p>
          <a:p>
            <a:endParaRPr lang="en-US" sz="2800" dirty="0">
              <a:solidFill>
                <a:schemeClr val="bg2"/>
              </a:solidFill>
            </a:endParaRPr>
          </a:p>
          <a:p>
            <a:r>
              <a:rPr lang="en-US" sz="2800" dirty="0">
                <a:solidFill>
                  <a:schemeClr val="bg2"/>
                </a:solidFill>
              </a:rPr>
              <a:t>• Content type distribution (Movies vs TV Shows)</a:t>
            </a:r>
          </a:p>
          <a:p>
            <a:r>
              <a:rPr lang="en-US" sz="2800" dirty="0">
                <a:solidFill>
                  <a:schemeClr val="bg2"/>
                </a:solidFill>
              </a:rPr>
              <a:t>• Country-wise content trends</a:t>
            </a:r>
          </a:p>
          <a:p>
            <a:r>
              <a:rPr lang="en-US" sz="2800" dirty="0">
                <a:solidFill>
                  <a:schemeClr val="bg2"/>
                </a:solidFill>
              </a:rPr>
              <a:t>• Genre distribution</a:t>
            </a:r>
          </a:p>
          <a:p>
            <a:r>
              <a:rPr lang="en-US" sz="2800" dirty="0">
                <a:solidFill>
                  <a:schemeClr val="bg2"/>
                </a:solidFill>
              </a:rPr>
              <a:t>• IMDb ratings &amp; popularity trends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sz="4400" dirty="0">
                <a:solidFill>
                  <a:srgbClr val="C00000"/>
                </a:solidFill>
              </a:rPr>
              <a:t>TOOLS USED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sz="2800" dirty="0">
                <a:solidFill>
                  <a:schemeClr val="bg2"/>
                </a:solidFill>
              </a:rPr>
              <a:t>Python | Pandas | SQL | Power BI | Tableau | Excel</a:t>
            </a:r>
          </a:p>
        </p:txBody>
      </p:sp>
      <p:pic>
        <p:nvPicPr>
          <p:cNvPr id="3078" name="Picture 6" descr="This may contain: the letter n is made up of thin red lines in the middle of black background">
            <a:extLst>
              <a:ext uri="{FF2B5EF4-FFF2-40B4-BE49-F238E27FC236}">
                <a16:creationId xmlns:a16="http://schemas.microsoft.com/office/drawing/2014/main" id="{E5D7DDEC-FDF2-48C0-9304-F9FBB4363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1062" y="1638300"/>
            <a:ext cx="9041006" cy="5085566"/>
          </a:xfrm>
          <a:prstGeom prst="rect">
            <a:avLst/>
          </a:prstGeom>
          <a:noFill/>
          <a:effectLst>
            <a:glow rad="889000">
              <a:schemeClr val="bg1">
                <a:lumMod val="50000"/>
                <a:alpha val="40000"/>
              </a:schemeClr>
            </a:glow>
            <a:outerShdw blurRad="635000" dist="50800" dir="5400000" algn="ctr" rotWithShape="0">
              <a:srgbClr val="000000"/>
            </a:outerShdw>
            <a:reflection blurRad="6350" stA="50000" endA="300" endPos="90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424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174240" y="1642552"/>
            <a:ext cx="11089421" cy="5644907"/>
          </a:xfrm>
          <a:custGeom>
            <a:avLst/>
            <a:gdLst/>
            <a:ahLst/>
            <a:cxnLst/>
            <a:rect l="l" t="t" r="r" b="b"/>
            <a:pathLst>
              <a:path w="13338570" h="5538572">
                <a:moveTo>
                  <a:pt x="0" y="0"/>
                </a:moveTo>
                <a:lnTo>
                  <a:pt x="13338569" y="0"/>
                </a:lnTo>
                <a:lnTo>
                  <a:pt x="13338569" y="5538572"/>
                </a:lnTo>
                <a:lnTo>
                  <a:pt x="0" y="5538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33278" b="-80460"/>
            </a:stretch>
          </a:blipFill>
        </p:spPr>
      </p:sp>
      <p:graphicFrame>
        <p:nvGraphicFramePr>
          <p:cNvPr id="6" name="Object 6"/>
          <p:cNvGraphicFramePr/>
          <p:nvPr>
            <p:extLst>
              <p:ext uri="{D42A27DB-BD31-4B8C-83A1-F6EECF244321}">
                <p14:modId xmlns:p14="http://schemas.microsoft.com/office/powerpoint/2010/main" val="5126214"/>
              </p:ext>
            </p:extLst>
          </p:nvPr>
        </p:nvGraphicFramePr>
        <p:xfrm>
          <a:off x="779177" y="1409700"/>
          <a:ext cx="3143319" cy="27379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Worksheet" r:id="rId5" imgW="4521200" imgH="3886200" progId="Excel.Sheet.12">
                  <p:embed/>
                </p:oleObj>
              </mc:Choice>
              <mc:Fallback>
                <p:oleObj name="Worksheet" r:id="rId5" imgW="4521200" imgH="3886200" progId="Excel.Sheet.12">
                  <p:embed/>
                  <p:pic>
                    <p:nvPicPr>
                      <p:cNvPr id="6" name="Object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79177" y="1409700"/>
                        <a:ext cx="3143319" cy="27379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7111809" y="356372"/>
            <a:ext cx="5214281" cy="7654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64"/>
              </a:lnSpc>
            </a:pPr>
            <a:r>
              <a:rPr lang="en-US" sz="4400" b="1" spc="-288" dirty="0">
                <a:solidFill>
                  <a:srgbClr val="C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📊 DATASET DETAILS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061380" y="8599494"/>
            <a:ext cx="13315140" cy="13311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29"/>
              </a:lnSpc>
              <a:spcBef>
                <a:spcPct val="0"/>
              </a:spcBef>
            </a:pPr>
            <a:r>
              <a:rPr lang="en-US" sz="2800" b="1" spc="-157" dirty="0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Workflow</a:t>
            </a:r>
          </a:p>
          <a:p>
            <a:pPr algn="ctr">
              <a:lnSpc>
                <a:spcPts val="5529"/>
              </a:lnSpc>
              <a:spcBef>
                <a:spcPct val="0"/>
              </a:spcBef>
            </a:pPr>
            <a:r>
              <a:rPr lang="en-US" sz="2800" spc="-157" dirty="0">
                <a:solidFill>
                  <a:srgbClr val="F7000F"/>
                </a:solidFill>
                <a:latin typeface="Poppins"/>
                <a:ea typeface="Poppins"/>
                <a:cs typeface="Poppins"/>
                <a:sym typeface="Poppins"/>
              </a:rPr>
              <a:t> netflix_titles.csv → netflix_cleaned.csv → netflix_enriched.csv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152469" y="7292983"/>
            <a:ext cx="11146972" cy="9258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26"/>
              </a:lnSpc>
              <a:spcBef>
                <a:spcPct val="0"/>
              </a:spcBef>
            </a:pPr>
            <a:r>
              <a:rPr lang="en-US" sz="2661" spc="-106" dirty="0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Snapshot of the Original Netflix Titles Dataset containing 8,807 records and 12 attributes.</a:t>
            </a:r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7D382B5A-9450-49CC-B387-3190BFC9D38D}"/>
              </a:ext>
            </a:extLst>
          </p:cNvPr>
          <p:cNvSpPr/>
          <p:nvPr/>
        </p:nvSpPr>
        <p:spPr>
          <a:xfrm>
            <a:off x="352878" y="4716424"/>
            <a:ext cx="852599" cy="854152"/>
          </a:xfrm>
          <a:custGeom>
            <a:avLst/>
            <a:gdLst/>
            <a:ahLst/>
            <a:cxnLst/>
            <a:rect l="l" t="t" r="r" b="b"/>
            <a:pathLst>
              <a:path w="852599" h="854152">
                <a:moveTo>
                  <a:pt x="0" y="0"/>
                </a:moveTo>
                <a:lnTo>
                  <a:pt x="852599" y="0"/>
                </a:lnTo>
                <a:lnTo>
                  <a:pt x="852599" y="854153"/>
                </a:lnTo>
                <a:lnTo>
                  <a:pt x="0" y="8541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6A79F0E2-BC80-4A11-95B3-1E4F92EF07A1}"/>
              </a:ext>
            </a:extLst>
          </p:cNvPr>
          <p:cNvSpPr/>
          <p:nvPr/>
        </p:nvSpPr>
        <p:spPr>
          <a:xfrm flipH="1">
            <a:off x="17316519" y="4716424"/>
            <a:ext cx="852599" cy="854152"/>
          </a:xfrm>
          <a:custGeom>
            <a:avLst/>
            <a:gdLst/>
            <a:ahLst/>
            <a:cxnLst/>
            <a:rect l="l" t="t" r="r" b="b"/>
            <a:pathLst>
              <a:path w="852599" h="854152">
                <a:moveTo>
                  <a:pt x="852599" y="0"/>
                </a:moveTo>
                <a:lnTo>
                  <a:pt x="0" y="0"/>
                </a:lnTo>
                <a:lnTo>
                  <a:pt x="0" y="854153"/>
                </a:lnTo>
                <a:lnTo>
                  <a:pt x="852599" y="854153"/>
                </a:lnTo>
                <a:lnTo>
                  <a:pt x="852599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61018" y="108876"/>
            <a:ext cx="655739" cy="753056"/>
          </a:xfrm>
          <a:custGeom>
            <a:avLst/>
            <a:gdLst/>
            <a:ahLst/>
            <a:cxnLst/>
            <a:rect l="l" t="t" r="r" b="b"/>
            <a:pathLst>
              <a:path w="852599" h="854152">
                <a:moveTo>
                  <a:pt x="0" y="0"/>
                </a:moveTo>
                <a:lnTo>
                  <a:pt x="852600" y="0"/>
                </a:lnTo>
                <a:lnTo>
                  <a:pt x="852600" y="854152"/>
                </a:lnTo>
                <a:lnTo>
                  <a:pt x="0" y="8541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6982128" y="212246"/>
            <a:ext cx="655740" cy="723281"/>
          </a:xfrm>
          <a:custGeom>
            <a:avLst/>
            <a:gdLst/>
            <a:ahLst/>
            <a:cxnLst/>
            <a:rect l="l" t="t" r="r" b="b"/>
            <a:pathLst>
              <a:path w="852599" h="854152">
                <a:moveTo>
                  <a:pt x="852599" y="0"/>
                </a:moveTo>
                <a:lnTo>
                  <a:pt x="0" y="0"/>
                </a:lnTo>
                <a:lnTo>
                  <a:pt x="0" y="854152"/>
                </a:lnTo>
                <a:lnTo>
                  <a:pt x="852599" y="854152"/>
                </a:lnTo>
                <a:lnTo>
                  <a:pt x="85259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343400" y="1790699"/>
            <a:ext cx="12872851" cy="6068931"/>
          </a:xfrm>
          <a:custGeom>
            <a:avLst/>
            <a:gdLst/>
            <a:ahLst/>
            <a:cxnLst/>
            <a:rect l="l" t="t" r="r" b="b"/>
            <a:pathLst>
              <a:path w="13656906" h="5143500">
                <a:moveTo>
                  <a:pt x="0" y="0"/>
                </a:moveTo>
                <a:lnTo>
                  <a:pt x="13656905" y="0"/>
                </a:lnTo>
                <a:lnTo>
                  <a:pt x="13656905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744" r="-22727" b="-81465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941004" y="35281"/>
            <a:ext cx="6405992" cy="900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44"/>
              </a:lnSpc>
            </a:pPr>
            <a:r>
              <a:rPr lang="en-US" sz="4400" b="1" spc="-351" dirty="0">
                <a:solidFill>
                  <a:srgbClr val="C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DATA CLEANING PROCESS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066071" y="7908617"/>
            <a:ext cx="11427507" cy="507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97"/>
              </a:lnSpc>
              <a:spcBef>
                <a:spcPct val="0"/>
              </a:spcBef>
            </a:pPr>
            <a:r>
              <a:rPr lang="en-US" sz="2927" spc="-117" dirty="0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Cleaned Netflix Dataset after preprocessing and feature extraction.</a:t>
            </a:r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F1D03C04-83B0-4D89-B757-12DA98C29F39}"/>
              </a:ext>
            </a:extLst>
          </p:cNvPr>
          <p:cNvSpPr/>
          <p:nvPr/>
        </p:nvSpPr>
        <p:spPr>
          <a:xfrm>
            <a:off x="561918" y="1796141"/>
            <a:ext cx="3781482" cy="6068931"/>
          </a:xfrm>
          <a:prstGeom prst="flowChartProcess">
            <a:avLst/>
          </a:prstGeom>
          <a:solidFill>
            <a:srgbClr val="C00000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2586" lvl="1" indent="-231293">
              <a:lnSpc>
                <a:spcPts val="2999"/>
              </a:lnSpc>
              <a:spcBef>
                <a:spcPct val="0"/>
              </a:spcBef>
              <a:buFont typeface="Arial"/>
              <a:buChar char="•"/>
            </a:pPr>
            <a:r>
              <a:rPr lang="en-US" spc="-85" dirty="0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Removed duplicates and handled missing values (e.g., Unknown filled for missing countries).</a:t>
            </a:r>
          </a:p>
          <a:p>
            <a:pPr marL="462586" lvl="1" indent="-231293">
              <a:lnSpc>
                <a:spcPts val="2999"/>
              </a:lnSpc>
              <a:spcBef>
                <a:spcPct val="0"/>
              </a:spcBef>
              <a:buFont typeface="Arial"/>
              <a:buChar char="•"/>
            </a:pPr>
            <a:r>
              <a:rPr lang="en-US" spc="-85" dirty="0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Standardized date formats in </a:t>
            </a:r>
            <a:r>
              <a:rPr lang="en-US" spc="-85" dirty="0" err="1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date_added</a:t>
            </a:r>
            <a:r>
              <a:rPr lang="en-US" spc="-85" dirty="0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462586" lvl="1" indent="-231293">
              <a:lnSpc>
                <a:spcPts val="2999"/>
              </a:lnSpc>
              <a:spcBef>
                <a:spcPct val="0"/>
              </a:spcBef>
              <a:buFont typeface="Arial"/>
              <a:buChar char="•"/>
            </a:pPr>
            <a:r>
              <a:rPr lang="en-US" spc="-85" dirty="0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Extracted </a:t>
            </a:r>
            <a:r>
              <a:rPr lang="en-US" spc="-85" dirty="0" err="1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year_added</a:t>
            </a:r>
            <a:r>
              <a:rPr lang="en-US" spc="-85" dirty="0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en-US" spc="-85" dirty="0" err="1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month_added</a:t>
            </a:r>
            <a:r>
              <a:rPr lang="en-US" spc="-85" dirty="0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 columns.</a:t>
            </a:r>
          </a:p>
          <a:p>
            <a:pPr marL="462586" lvl="1" indent="-231293">
              <a:lnSpc>
                <a:spcPts val="2999"/>
              </a:lnSpc>
              <a:spcBef>
                <a:spcPct val="0"/>
              </a:spcBef>
              <a:buFont typeface="Arial"/>
              <a:buChar char="•"/>
            </a:pPr>
            <a:r>
              <a:rPr lang="en-US" spc="-85" dirty="0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Converted durations (like “90 min”, “2 Seasons”) into numeric values (</a:t>
            </a:r>
            <a:r>
              <a:rPr lang="en-US" spc="-85" dirty="0" err="1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duration_num</a:t>
            </a:r>
            <a:r>
              <a:rPr lang="en-US" spc="-85" dirty="0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</a:p>
          <a:p>
            <a:pPr marL="462586" lvl="1" indent="-231293">
              <a:lnSpc>
                <a:spcPts val="2999"/>
              </a:lnSpc>
              <a:spcBef>
                <a:spcPct val="0"/>
              </a:spcBef>
              <a:buFont typeface="Arial"/>
              <a:buChar char="•"/>
            </a:pPr>
            <a:r>
              <a:rPr lang="en-US" spc="-85" dirty="0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Exported the cleaned dataset → netflix_cleaned.csv</a:t>
            </a:r>
          </a:p>
          <a:p>
            <a:pPr marL="462586" lvl="1" indent="-231293">
              <a:lnSpc>
                <a:spcPts val="2999"/>
              </a:lnSpc>
              <a:spcBef>
                <a:spcPct val="0"/>
              </a:spcBef>
              <a:buFont typeface="Arial"/>
              <a:buChar char="•"/>
            </a:pPr>
            <a:r>
              <a:rPr lang="en-US" spc="-85" dirty="0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Libraries: Pandas, NumPy</a:t>
            </a:r>
          </a:p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52231" y="55001"/>
            <a:ext cx="852599" cy="854152"/>
          </a:xfrm>
          <a:custGeom>
            <a:avLst/>
            <a:gdLst/>
            <a:ahLst/>
            <a:cxnLst/>
            <a:rect l="l" t="t" r="r" b="b"/>
            <a:pathLst>
              <a:path w="852599" h="854152">
                <a:moveTo>
                  <a:pt x="0" y="0"/>
                </a:moveTo>
                <a:lnTo>
                  <a:pt x="852599" y="0"/>
                </a:lnTo>
                <a:lnTo>
                  <a:pt x="852599" y="854152"/>
                </a:lnTo>
                <a:lnTo>
                  <a:pt x="0" y="8541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6838483" y="55001"/>
            <a:ext cx="852599" cy="854152"/>
          </a:xfrm>
          <a:custGeom>
            <a:avLst/>
            <a:gdLst/>
            <a:ahLst/>
            <a:cxnLst/>
            <a:rect l="l" t="t" r="r" b="b"/>
            <a:pathLst>
              <a:path w="852599" h="854152">
                <a:moveTo>
                  <a:pt x="852600" y="0"/>
                </a:moveTo>
                <a:lnTo>
                  <a:pt x="0" y="0"/>
                </a:lnTo>
                <a:lnTo>
                  <a:pt x="0" y="854152"/>
                </a:lnTo>
                <a:lnTo>
                  <a:pt x="852600" y="854152"/>
                </a:lnTo>
                <a:lnTo>
                  <a:pt x="8526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203630" y="1300831"/>
            <a:ext cx="5448157" cy="4250607"/>
          </a:xfrm>
          <a:custGeom>
            <a:avLst/>
            <a:gdLst/>
            <a:ahLst/>
            <a:cxnLst/>
            <a:rect l="l" t="t" r="r" b="b"/>
            <a:pathLst>
              <a:path w="5448157" h="4250607">
                <a:moveTo>
                  <a:pt x="0" y="0"/>
                </a:moveTo>
                <a:lnTo>
                  <a:pt x="5448158" y="0"/>
                </a:lnTo>
                <a:lnTo>
                  <a:pt x="5448158" y="4250607"/>
                </a:lnTo>
                <a:lnTo>
                  <a:pt x="0" y="42506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75" b="-275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895144" y="3426134"/>
            <a:ext cx="7232119" cy="4917766"/>
          </a:xfrm>
          <a:custGeom>
            <a:avLst/>
            <a:gdLst/>
            <a:ahLst/>
            <a:cxnLst/>
            <a:rect l="l" t="t" r="r" b="b"/>
            <a:pathLst>
              <a:path w="7387982" h="4911329">
                <a:moveTo>
                  <a:pt x="0" y="0"/>
                </a:moveTo>
                <a:lnTo>
                  <a:pt x="7387982" y="0"/>
                </a:lnTo>
                <a:lnTo>
                  <a:pt x="7387982" y="4911329"/>
                </a:lnTo>
                <a:lnTo>
                  <a:pt x="0" y="49113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198399" y="5925548"/>
            <a:ext cx="5458620" cy="4361452"/>
          </a:xfrm>
          <a:custGeom>
            <a:avLst/>
            <a:gdLst/>
            <a:ahLst/>
            <a:cxnLst/>
            <a:rect l="l" t="t" r="r" b="b"/>
            <a:pathLst>
              <a:path w="5458620" h="4361452">
                <a:moveTo>
                  <a:pt x="0" y="0"/>
                </a:moveTo>
                <a:lnTo>
                  <a:pt x="5458620" y="0"/>
                </a:lnTo>
                <a:lnTo>
                  <a:pt x="5458620" y="4361452"/>
                </a:lnTo>
                <a:lnTo>
                  <a:pt x="0" y="43614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925" r="-925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101371" y="118426"/>
            <a:ext cx="10085258" cy="6981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83"/>
              </a:lnSpc>
            </a:pPr>
            <a:r>
              <a:rPr lang="en-US" sz="4400" b="1" spc="-256" dirty="0">
                <a:solidFill>
                  <a:srgbClr val="C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📈 EXPLORATORY DATA ANALYSIS (EDA)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4727B-FBDE-4F83-95F7-6EC55C921C49}"/>
              </a:ext>
            </a:extLst>
          </p:cNvPr>
          <p:cNvSpPr/>
          <p:nvPr/>
        </p:nvSpPr>
        <p:spPr>
          <a:xfrm>
            <a:off x="724374" y="1401721"/>
            <a:ext cx="3923825" cy="6942179"/>
          </a:xfrm>
          <a:prstGeom prst="rect">
            <a:avLst/>
          </a:prstGeom>
          <a:solidFill>
            <a:schemeClr val="accent2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D979DB12-19A8-473B-8FDD-9304F8E49620}"/>
              </a:ext>
            </a:extLst>
          </p:cNvPr>
          <p:cNvSpPr txBox="1"/>
          <p:nvPr/>
        </p:nvSpPr>
        <p:spPr>
          <a:xfrm>
            <a:off x="724375" y="1401721"/>
            <a:ext cx="3923825" cy="67033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85"/>
              </a:lnSpc>
            </a:pPr>
            <a:r>
              <a:rPr lang="en-US" sz="2400" b="1" spc="-136" dirty="0">
                <a:solidFill>
                  <a:srgbClr val="D9D9D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🎨</a:t>
            </a:r>
            <a:r>
              <a:rPr lang="en-US" sz="2800" b="1" spc="-136" dirty="0">
                <a:solidFill>
                  <a:srgbClr val="C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Visuals Performed:</a:t>
            </a:r>
          </a:p>
          <a:p>
            <a:pPr marL="738051" lvl="1" indent="-369026" algn="l">
              <a:lnSpc>
                <a:spcPts val="4785"/>
              </a:lnSpc>
              <a:buFont typeface="Arial"/>
              <a:buChar char="•"/>
            </a:pPr>
            <a:r>
              <a:rPr lang="en-US" sz="2400" b="1" spc="-136" dirty="0">
                <a:solidFill>
                  <a:srgbClr val="D9D9D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Movies vs TV Shows</a:t>
            </a:r>
          </a:p>
          <a:p>
            <a:pPr marL="738051" lvl="1" indent="-369026" algn="l">
              <a:lnSpc>
                <a:spcPts val="4785"/>
              </a:lnSpc>
              <a:buFont typeface="Arial"/>
              <a:buChar char="•"/>
            </a:pPr>
            <a:r>
              <a:rPr lang="en-US" sz="2400" b="1" spc="-136" dirty="0">
                <a:solidFill>
                  <a:srgbClr val="D9D9D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Top 10 Countries</a:t>
            </a:r>
          </a:p>
          <a:p>
            <a:pPr marL="738051" lvl="1" indent="-369026" algn="l">
              <a:lnSpc>
                <a:spcPts val="4785"/>
              </a:lnSpc>
              <a:buFont typeface="Arial"/>
              <a:buChar char="•"/>
            </a:pPr>
            <a:r>
              <a:rPr lang="en-US" sz="2400" b="1" spc="-136" dirty="0">
                <a:solidFill>
                  <a:srgbClr val="D9D9D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Titles Added per Year</a:t>
            </a:r>
          </a:p>
          <a:p>
            <a:pPr algn="l">
              <a:lnSpc>
                <a:spcPts val="4785"/>
              </a:lnSpc>
              <a:spcBef>
                <a:spcPct val="0"/>
              </a:spcBef>
            </a:pPr>
            <a:r>
              <a:rPr lang="en-US" sz="2400" b="1" spc="-136" dirty="0">
                <a:solidFill>
                  <a:srgbClr val="D9D9D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📊 </a:t>
            </a:r>
            <a:r>
              <a:rPr lang="en-US" sz="2800" b="1" spc="-136" dirty="0">
                <a:solidFill>
                  <a:srgbClr val="C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Findings:</a:t>
            </a:r>
          </a:p>
          <a:p>
            <a:pPr marL="738051" lvl="1" indent="-369026" algn="l">
              <a:lnSpc>
                <a:spcPts val="4785"/>
              </a:lnSpc>
              <a:buFont typeface="Arial"/>
              <a:buChar char="•"/>
            </a:pPr>
            <a:r>
              <a:rPr lang="en-US" sz="2400" b="1" spc="-136" dirty="0">
                <a:solidFill>
                  <a:srgbClr val="D9D9D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Netflix has more movies than TV shows</a:t>
            </a:r>
          </a:p>
          <a:p>
            <a:pPr marL="738051" lvl="1" indent="-369026" algn="l">
              <a:lnSpc>
                <a:spcPts val="4785"/>
              </a:lnSpc>
              <a:buFont typeface="Arial"/>
              <a:buChar char="•"/>
            </a:pPr>
            <a:r>
              <a:rPr lang="en-US" sz="2400" b="1" spc="-136" dirty="0">
                <a:solidFill>
                  <a:srgbClr val="D9D9D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USA, India, UK dominate</a:t>
            </a:r>
          </a:p>
          <a:p>
            <a:pPr marL="738051" lvl="1" indent="-369026" algn="l">
              <a:lnSpc>
                <a:spcPts val="4785"/>
              </a:lnSpc>
              <a:buFont typeface="Arial"/>
              <a:buChar char="•"/>
            </a:pPr>
            <a:r>
              <a:rPr lang="en-US" sz="2400" b="1" spc="-136" dirty="0">
                <a:solidFill>
                  <a:srgbClr val="D9D9D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Content growth accelerated post-2015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6369" y="1632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66369" y="254640"/>
            <a:ext cx="726744" cy="728068"/>
          </a:xfrm>
          <a:custGeom>
            <a:avLst/>
            <a:gdLst/>
            <a:ahLst/>
            <a:cxnLst/>
            <a:rect l="l" t="t" r="r" b="b"/>
            <a:pathLst>
              <a:path w="726744" h="728068">
                <a:moveTo>
                  <a:pt x="0" y="0"/>
                </a:moveTo>
                <a:lnTo>
                  <a:pt x="726744" y="0"/>
                </a:lnTo>
                <a:lnTo>
                  <a:pt x="726744" y="728068"/>
                </a:lnTo>
                <a:lnTo>
                  <a:pt x="0" y="7280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7053040" y="254640"/>
            <a:ext cx="726744" cy="728068"/>
          </a:xfrm>
          <a:custGeom>
            <a:avLst/>
            <a:gdLst/>
            <a:ahLst/>
            <a:cxnLst/>
            <a:rect l="l" t="t" r="r" b="b"/>
            <a:pathLst>
              <a:path w="726744" h="728068">
                <a:moveTo>
                  <a:pt x="726743" y="0"/>
                </a:moveTo>
                <a:lnTo>
                  <a:pt x="0" y="0"/>
                </a:lnTo>
                <a:lnTo>
                  <a:pt x="0" y="728068"/>
                </a:lnTo>
                <a:lnTo>
                  <a:pt x="726743" y="728068"/>
                </a:lnTo>
                <a:lnTo>
                  <a:pt x="72674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23595" y="1592251"/>
            <a:ext cx="11878606" cy="5372810"/>
          </a:xfrm>
          <a:custGeom>
            <a:avLst/>
            <a:gdLst/>
            <a:ahLst/>
            <a:cxnLst/>
            <a:rect l="l" t="t" r="r" b="b"/>
            <a:pathLst>
              <a:path w="12564406" h="4541849">
                <a:moveTo>
                  <a:pt x="0" y="0"/>
                </a:moveTo>
                <a:lnTo>
                  <a:pt x="12564406" y="0"/>
                </a:lnTo>
                <a:lnTo>
                  <a:pt x="12564406" y="4541849"/>
                </a:lnTo>
                <a:lnTo>
                  <a:pt x="0" y="45418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7225" r="-25015" b="-87309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903480" y="317020"/>
            <a:ext cx="12481040" cy="611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02"/>
              </a:lnSpc>
            </a:pPr>
            <a:r>
              <a:rPr lang="en-US" sz="4400" b="1" spc="-216" dirty="0">
                <a:solidFill>
                  <a:srgbClr val="C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🌍 WEB SCRAPING &amp; IMDB RATINGS ENRICHMENT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889064" y="7253968"/>
            <a:ext cx="7547667" cy="641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01"/>
              </a:lnSpc>
              <a:spcBef>
                <a:spcPct val="0"/>
              </a:spcBef>
            </a:pPr>
            <a:r>
              <a:rPr lang="en-US" sz="3643" spc="-145" dirty="0">
                <a:solidFill>
                  <a:srgbClr val="C0C1C6"/>
                </a:solidFill>
                <a:latin typeface="Poppins"/>
                <a:ea typeface="Poppins"/>
                <a:cs typeface="Poppins"/>
                <a:sym typeface="Poppins"/>
              </a:rPr>
              <a:t>Enrich Netflix data with IMDb ratings</a:t>
            </a:r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58D15F9A-4CAE-4A72-BE10-888D58BBF162}"/>
              </a:ext>
            </a:extLst>
          </p:cNvPr>
          <p:cNvSpPr/>
          <p:nvPr/>
        </p:nvSpPr>
        <p:spPr>
          <a:xfrm>
            <a:off x="-266369" y="2286340"/>
            <a:ext cx="5989963" cy="3984631"/>
          </a:xfrm>
          <a:prstGeom prst="flowChartProcess">
            <a:avLst/>
          </a:prstGeom>
          <a:solidFill>
            <a:srgbClr val="C00000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7316" lvl="1" indent="-373658">
              <a:lnSpc>
                <a:spcPts val="4845"/>
              </a:lnSpc>
              <a:buFont typeface="Arial"/>
              <a:buChar char="•"/>
            </a:pPr>
            <a:r>
              <a:rPr lang="en-US" b="1" spc="-138" dirty="0">
                <a:solidFill>
                  <a:srgbClr val="D9D9D9"/>
                </a:solidFill>
                <a:latin typeface="Poppins Bold"/>
                <a:ea typeface="Poppins Bold"/>
                <a:cs typeface="Poppins Bold"/>
                <a:sym typeface="Poppins Bold"/>
              </a:rPr>
              <a:t>Used </a:t>
            </a:r>
            <a:r>
              <a:rPr lang="en-US" b="1" spc="-138" dirty="0" err="1">
                <a:solidFill>
                  <a:srgbClr val="D9D9D9"/>
                </a:solidFill>
                <a:latin typeface="Poppins Bold"/>
                <a:ea typeface="Poppins Bold"/>
                <a:cs typeface="Poppins Bold"/>
                <a:sym typeface="Poppins Bold"/>
              </a:rPr>
              <a:t>OMDb</a:t>
            </a:r>
            <a:r>
              <a:rPr lang="en-US" b="1" spc="-138" dirty="0">
                <a:solidFill>
                  <a:srgbClr val="D9D9D9"/>
                </a:solidFill>
                <a:latin typeface="Poppins Bold"/>
                <a:ea typeface="Poppins Bold"/>
                <a:cs typeface="Poppins Bold"/>
                <a:sym typeface="Poppins Bold"/>
              </a:rPr>
              <a:t> API to fetch IMDb ratings</a:t>
            </a:r>
          </a:p>
          <a:p>
            <a:pPr marL="747316" lvl="1" indent="-373658">
              <a:lnSpc>
                <a:spcPts val="4845"/>
              </a:lnSpc>
              <a:buFont typeface="Arial"/>
              <a:buChar char="•"/>
            </a:pPr>
            <a:r>
              <a:rPr lang="en-US" b="1" spc="-138" dirty="0">
                <a:solidFill>
                  <a:srgbClr val="D9D9D9"/>
                </a:solidFill>
                <a:latin typeface="Poppins Bold"/>
                <a:ea typeface="Poppins Bold"/>
                <a:cs typeface="Poppins Bold"/>
                <a:sym typeface="Poppins Bold"/>
              </a:rPr>
              <a:t>Added new column → </a:t>
            </a:r>
            <a:r>
              <a:rPr lang="en-US" b="1" spc="-138" dirty="0" err="1">
                <a:solidFill>
                  <a:srgbClr val="D9D9D9"/>
                </a:solidFill>
                <a:latin typeface="Poppins Bold"/>
                <a:ea typeface="Poppins Bold"/>
                <a:cs typeface="Poppins Bold"/>
                <a:sym typeface="Poppins Bold"/>
              </a:rPr>
              <a:t>imdb_rating</a:t>
            </a:r>
            <a:endParaRPr lang="en-US" b="1" spc="-138" dirty="0">
              <a:solidFill>
                <a:srgbClr val="D9D9D9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747316" lvl="1" indent="-373658">
              <a:lnSpc>
                <a:spcPts val="4845"/>
              </a:lnSpc>
              <a:buFont typeface="Arial"/>
              <a:buChar char="•"/>
            </a:pPr>
            <a:r>
              <a:rPr lang="en-US" b="1" spc="-138" dirty="0">
                <a:solidFill>
                  <a:srgbClr val="D9D9D9"/>
                </a:solidFill>
                <a:latin typeface="Poppins Bold"/>
                <a:ea typeface="Poppins Bold"/>
                <a:cs typeface="Poppins Bold"/>
                <a:sym typeface="Poppins Bold"/>
              </a:rPr>
              <a:t>Enriched dataset saved as → netflix_enriched.csv</a:t>
            </a:r>
          </a:p>
          <a:p>
            <a:pPr marL="747316" lvl="1" indent="-373658">
              <a:lnSpc>
                <a:spcPts val="4845"/>
              </a:lnSpc>
              <a:buFont typeface="Arial"/>
              <a:buChar char="•"/>
            </a:pPr>
            <a:r>
              <a:rPr lang="en-US" b="1" spc="-138" dirty="0">
                <a:solidFill>
                  <a:srgbClr val="D9D9D9"/>
                </a:solidFill>
                <a:latin typeface="Poppins Bold"/>
                <a:ea typeface="Poppins Bold"/>
                <a:cs typeface="Poppins Bold"/>
                <a:sym typeface="Poppins Bold"/>
              </a:rPr>
              <a:t>Tools: Requests, </a:t>
            </a:r>
            <a:r>
              <a:rPr lang="en-US" b="1" spc="-138" dirty="0" err="1">
                <a:solidFill>
                  <a:srgbClr val="D9D9D9"/>
                </a:solidFill>
                <a:latin typeface="Poppins Bold"/>
                <a:ea typeface="Poppins Bold"/>
                <a:cs typeface="Poppins Bold"/>
                <a:sym typeface="Poppins Bold"/>
              </a:rPr>
              <a:t>Dotenv</a:t>
            </a:r>
            <a:r>
              <a:rPr lang="en-US" b="1" spc="-138" dirty="0">
                <a:solidFill>
                  <a:srgbClr val="D9D9D9"/>
                </a:solidFill>
                <a:latin typeface="Poppins Bold"/>
                <a:ea typeface="Poppins Bold"/>
                <a:cs typeface="Poppins Bold"/>
                <a:sym typeface="Poppins Bold"/>
              </a:rPr>
              <a:t>, Pandas</a:t>
            </a:r>
          </a:p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418235" y="163179"/>
            <a:ext cx="3449525" cy="8329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79"/>
              </a:lnSpc>
            </a:pPr>
            <a:r>
              <a:rPr lang="en-US" sz="4400" b="1" spc="-316" dirty="0">
                <a:solidFill>
                  <a:srgbClr val="C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SQL ANALYSIS</a:t>
            </a:r>
          </a:p>
        </p:txBody>
      </p:sp>
      <p:sp>
        <p:nvSpPr>
          <p:cNvPr id="4" name="Freeform 4"/>
          <p:cNvSpPr/>
          <p:nvPr/>
        </p:nvSpPr>
        <p:spPr>
          <a:xfrm>
            <a:off x="755650" y="254640"/>
            <a:ext cx="852599" cy="854152"/>
          </a:xfrm>
          <a:custGeom>
            <a:avLst/>
            <a:gdLst/>
            <a:ahLst/>
            <a:cxnLst/>
            <a:rect l="l" t="t" r="r" b="b"/>
            <a:pathLst>
              <a:path w="852599" h="854152">
                <a:moveTo>
                  <a:pt x="0" y="0"/>
                </a:moveTo>
                <a:lnTo>
                  <a:pt x="852600" y="0"/>
                </a:lnTo>
                <a:lnTo>
                  <a:pt x="852600" y="854153"/>
                </a:lnTo>
                <a:lnTo>
                  <a:pt x="0" y="8541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6677746" y="254640"/>
            <a:ext cx="852599" cy="854152"/>
          </a:xfrm>
          <a:custGeom>
            <a:avLst/>
            <a:gdLst/>
            <a:ahLst/>
            <a:cxnLst/>
            <a:rect l="l" t="t" r="r" b="b"/>
            <a:pathLst>
              <a:path w="852599" h="854152">
                <a:moveTo>
                  <a:pt x="852600" y="0"/>
                </a:moveTo>
                <a:lnTo>
                  <a:pt x="0" y="0"/>
                </a:lnTo>
                <a:lnTo>
                  <a:pt x="0" y="854153"/>
                </a:lnTo>
                <a:lnTo>
                  <a:pt x="852600" y="854153"/>
                </a:lnTo>
                <a:lnTo>
                  <a:pt x="8526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AFC37AB5-54CA-44BD-8E40-4CEC918ACBE1}"/>
              </a:ext>
            </a:extLst>
          </p:cNvPr>
          <p:cNvSpPr/>
          <p:nvPr/>
        </p:nvSpPr>
        <p:spPr>
          <a:xfrm>
            <a:off x="381000" y="1254949"/>
            <a:ext cx="8153400" cy="7609072"/>
          </a:xfrm>
          <a:prstGeom prst="flowChartProcess">
            <a:avLst/>
          </a:prstGeom>
          <a:solidFill>
            <a:srgbClr val="C00000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4836"/>
              </a:lnSpc>
              <a:spcBef>
                <a:spcPct val="0"/>
              </a:spcBef>
            </a:pPr>
            <a:r>
              <a:rPr lang="en-US" sz="3600" b="1" spc="-138" dirty="0">
                <a:solidFill>
                  <a:srgbClr val="C00000"/>
                </a:solidFill>
                <a:latin typeface="Poppins"/>
                <a:ea typeface="Poppins"/>
                <a:cs typeface="Poppins"/>
                <a:sym typeface="Poppins"/>
              </a:rPr>
              <a:t>Database Used: </a:t>
            </a:r>
            <a:r>
              <a:rPr lang="en-US" sz="3600" spc="-138" dirty="0">
                <a:solidFill>
                  <a:schemeClr val="bg2"/>
                </a:solidFill>
                <a:latin typeface="Poppins"/>
                <a:ea typeface="Poppins"/>
                <a:cs typeface="Poppins"/>
                <a:sym typeface="Poppins"/>
              </a:rPr>
              <a:t>SQLite</a:t>
            </a:r>
          </a:p>
          <a:p>
            <a:pPr>
              <a:lnSpc>
                <a:spcPts val="4836"/>
              </a:lnSpc>
              <a:spcBef>
                <a:spcPct val="0"/>
              </a:spcBef>
            </a:pPr>
            <a:endParaRPr lang="en-US" sz="3600" spc="-138" dirty="0">
              <a:solidFill>
                <a:srgbClr val="E94B2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lnSpc>
                <a:spcPts val="4836"/>
              </a:lnSpc>
              <a:spcBef>
                <a:spcPct val="0"/>
              </a:spcBef>
            </a:pPr>
            <a:r>
              <a:rPr lang="en-US" sz="3600" b="1" spc="-138" dirty="0">
                <a:solidFill>
                  <a:srgbClr val="C00000"/>
                </a:solidFill>
                <a:latin typeface="Poppins"/>
                <a:ea typeface="Poppins"/>
                <a:cs typeface="Poppins"/>
                <a:sym typeface="Poppins"/>
              </a:rPr>
              <a:t>Queries Performed:</a:t>
            </a:r>
          </a:p>
          <a:p>
            <a:pPr>
              <a:lnSpc>
                <a:spcPts val="4836"/>
              </a:lnSpc>
              <a:spcBef>
                <a:spcPct val="0"/>
              </a:spcBef>
            </a:pPr>
            <a:r>
              <a:rPr lang="en-US" sz="3600" spc="-138" dirty="0">
                <a:solidFill>
                  <a:schemeClr val="bg2"/>
                </a:solidFill>
                <a:latin typeface="Poppins"/>
                <a:ea typeface="Poppins"/>
                <a:cs typeface="Poppins"/>
                <a:sym typeface="Poppins"/>
              </a:rPr>
              <a:t>SELECT type, COUNT(*) FROM </a:t>
            </a:r>
            <a:r>
              <a:rPr lang="en-US" sz="3600" spc="-138" dirty="0" err="1">
                <a:solidFill>
                  <a:schemeClr val="bg2"/>
                </a:solidFill>
                <a:latin typeface="Poppins"/>
                <a:ea typeface="Poppins"/>
                <a:cs typeface="Poppins"/>
                <a:sym typeface="Poppins"/>
              </a:rPr>
              <a:t>netflix</a:t>
            </a:r>
            <a:r>
              <a:rPr lang="en-US" sz="3600" spc="-138" dirty="0">
                <a:solidFill>
                  <a:schemeClr val="bg2"/>
                </a:solidFill>
                <a:latin typeface="Poppins"/>
                <a:ea typeface="Poppins"/>
                <a:cs typeface="Poppins"/>
                <a:sym typeface="Poppins"/>
              </a:rPr>
              <a:t> GROUP BY type;</a:t>
            </a:r>
          </a:p>
          <a:p>
            <a:pPr>
              <a:lnSpc>
                <a:spcPts val="4836"/>
              </a:lnSpc>
              <a:spcBef>
                <a:spcPct val="0"/>
              </a:spcBef>
            </a:pPr>
            <a:endParaRPr lang="en-US" sz="3600" spc="-138" dirty="0">
              <a:solidFill>
                <a:srgbClr val="E94B2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lnSpc>
                <a:spcPts val="4836"/>
              </a:lnSpc>
              <a:spcBef>
                <a:spcPct val="0"/>
              </a:spcBef>
            </a:pPr>
            <a:r>
              <a:rPr lang="en-US" sz="3600" b="1" spc="-138" dirty="0">
                <a:solidFill>
                  <a:srgbClr val="C00000"/>
                </a:solidFill>
                <a:latin typeface="Poppins"/>
                <a:ea typeface="Poppins"/>
                <a:cs typeface="Poppins"/>
                <a:sym typeface="Poppins"/>
              </a:rPr>
              <a:t>Output:</a:t>
            </a:r>
          </a:p>
          <a:p>
            <a:pPr>
              <a:lnSpc>
                <a:spcPts val="4836"/>
              </a:lnSpc>
              <a:spcBef>
                <a:spcPct val="0"/>
              </a:spcBef>
            </a:pPr>
            <a:r>
              <a:rPr lang="en-US" sz="3600" spc="-138" dirty="0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type      total</a:t>
            </a:r>
          </a:p>
          <a:p>
            <a:pPr>
              <a:lnSpc>
                <a:spcPts val="4836"/>
              </a:lnSpc>
              <a:spcBef>
                <a:spcPct val="0"/>
              </a:spcBef>
            </a:pPr>
            <a:r>
              <a:rPr lang="en-US" sz="3600" spc="-138" dirty="0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Movie     127</a:t>
            </a:r>
          </a:p>
          <a:p>
            <a:pPr>
              <a:lnSpc>
                <a:spcPts val="4836"/>
              </a:lnSpc>
              <a:spcBef>
                <a:spcPct val="0"/>
              </a:spcBef>
            </a:pPr>
            <a:r>
              <a:rPr lang="en-US" sz="3600" spc="-138" dirty="0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TV Show   73</a:t>
            </a:r>
          </a:p>
          <a:p>
            <a:pPr algn="ctr"/>
            <a:endParaRPr lang="en-US" dirty="0"/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C9FD6A07-5C95-414A-8C49-50E4CE24B8E9}"/>
              </a:ext>
            </a:extLst>
          </p:cNvPr>
          <p:cNvSpPr/>
          <p:nvPr/>
        </p:nvSpPr>
        <p:spPr>
          <a:xfrm>
            <a:off x="9148345" y="1227146"/>
            <a:ext cx="8382000" cy="7609072"/>
          </a:xfrm>
          <a:prstGeom prst="flowChartProcess">
            <a:avLst/>
          </a:prstGeom>
          <a:solidFill>
            <a:srgbClr val="C00000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5457"/>
              </a:lnSpc>
              <a:spcBef>
                <a:spcPct val="0"/>
              </a:spcBef>
            </a:pPr>
            <a:r>
              <a:rPr lang="en-US" sz="3200" b="1" spc="-155" dirty="0">
                <a:solidFill>
                  <a:srgbClr val="C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Process Overview:</a:t>
            </a:r>
          </a:p>
          <a:p>
            <a:pPr>
              <a:lnSpc>
                <a:spcPts val="5457"/>
              </a:lnSpc>
              <a:spcBef>
                <a:spcPct val="0"/>
              </a:spcBef>
            </a:pPr>
            <a:r>
              <a:rPr lang="en-US" sz="3200" b="1" spc="-155" dirty="0">
                <a:solidFill>
                  <a:srgbClr val="D9D9D9"/>
                </a:solidFill>
                <a:latin typeface="Poppins Bold"/>
                <a:ea typeface="Poppins Bold"/>
                <a:cs typeface="Poppins Bold"/>
                <a:sym typeface="Poppins Bold"/>
              </a:rPr>
              <a:t> 🗄️ Connected to SQLite database (</a:t>
            </a:r>
            <a:r>
              <a:rPr lang="en-US" sz="3200" b="1" spc="-155" dirty="0" err="1">
                <a:solidFill>
                  <a:srgbClr val="D9D9D9"/>
                </a:solidFill>
                <a:latin typeface="Poppins Bold"/>
                <a:ea typeface="Poppins Bold"/>
                <a:cs typeface="Poppins Bold"/>
                <a:sym typeface="Poppins Bold"/>
              </a:rPr>
              <a:t>netflix.db</a:t>
            </a:r>
            <a:r>
              <a:rPr lang="en-US" sz="3200" b="1" spc="-155" dirty="0">
                <a:solidFill>
                  <a:srgbClr val="D9D9D9"/>
                </a:solidFill>
                <a:latin typeface="Poppins Bold"/>
                <a:ea typeface="Poppins Bold"/>
                <a:cs typeface="Poppins Bold"/>
                <a:sym typeface="Poppins Bold"/>
              </a:rPr>
              <a:t>)</a:t>
            </a:r>
          </a:p>
          <a:p>
            <a:pPr>
              <a:lnSpc>
                <a:spcPts val="5457"/>
              </a:lnSpc>
              <a:spcBef>
                <a:spcPct val="0"/>
              </a:spcBef>
            </a:pPr>
            <a:r>
              <a:rPr lang="en-US" sz="3200" b="1" spc="-155" dirty="0">
                <a:solidFill>
                  <a:srgbClr val="D9D9D9"/>
                </a:solidFill>
                <a:latin typeface="Poppins Bold"/>
                <a:ea typeface="Poppins Bold"/>
                <a:cs typeface="Poppins Bold"/>
                <a:sym typeface="Poppins Bold"/>
              </a:rPr>
              <a:t> 📥 Imported enriched dataset → created </a:t>
            </a:r>
            <a:r>
              <a:rPr lang="en-US" sz="3200" b="1" spc="-155" dirty="0" err="1">
                <a:solidFill>
                  <a:srgbClr val="D9D9D9"/>
                </a:solidFill>
                <a:latin typeface="Poppins Bold"/>
                <a:ea typeface="Poppins Bold"/>
                <a:cs typeface="Poppins Bold"/>
                <a:sym typeface="Poppins Bold"/>
              </a:rPr>
              <a:t>netflix</a:t>
            </a:r>
            <a:r>
              <a:rPr lang="en-US" sz="3200" b="1" spc="-155" dirty="0">
                <a:solidFill>
                  <a:srgbClr val="D9D9D9"/>
                </a:solidFill>
                <a:latin typeface="Poppins Bold"/>
                <a:ea typeface="Poppins Bold"/>
                <a:cs typeface="Poppins Bold"/>
                <a:sym typeface="Poppins Bold"/>
              </a:rPr>
              <a:t> table</a:t>
            </a:r>
          </a:p>
          <a:p>
            <a:pPr>
              <a:lnSpc>
                <a:spcPts val="5457"/>
              </a:lnSpc>
              <a:spcBef>
                <a:spcPct val="0"/>
              </a:spcBef>
            </a:pPr>
            <a:r>
              <a:rPr lang="en-US" sz="3200" b="1" spc="-155" dirty="0">
                <a:solidFill>
                  <a:srgbClr val="D9D9D9"/>
                </a:solidFill>
                <a:latin typeface="Poppins Bold"/>
                <a:ea typeface="Poppins Bold"/>
                <a:cs typeface="Poppins Bold"/>
                <a:sym typeface="Poppins Bold"/>
              </a:rPr>
              <a:t> 💻 Executed SQL query to group content by type</a:t>
            </a:r>
          </a:p>
          <a:p>
            <a:pPr>
              <a:lnSpc>
                <a:spcPts val="5457"/>
              </a:lnSpc>
              <a:spcBef>
                <a:spcPct val="0"/>
              </a:spcBef>
            </a:pPr>
            <a:r>
              <a:rPr lang="en-US" sz="3200" b="1" spc="-155" dirty="0">
                <a:solidFill>
                  <a:srgbClr val="D9D9D9"/>
                </a:solidFill>
                <a:latin typeface="Poppins Bold"/>
                <a:ea typeface="Poppins Bold"/>
                <a:cs typeface="Poppins Bold"/>
                <a:sym typeface="Poppins Bold"/>
              </a:rPr>
              <a:t> 📊 Retrieved results directly into Python </a:t>
            </a:r>
            <a:r>
              <a:rPr lang="en-US" sz="3200" b="1" spc="-155" dirty="0" err="1">
                <a:solidFill>
                  <a:srgbClr val="D9D9D9"/>
                </a:solidFill>
                <a:latin typeface="Poppins Bold"/>
                <a:ea typeface="Poppins Bold"/>
                <a:cs typeface="Poppins Bold"/>
                <a:sym typeface="Poppins Bold"/>
              </a:rPr>
              <a:t>DataFrame</a:t>
            </a:r>
            <a:endParaRPr lang="en-US" sz="3200" b="1" spc="-155" dirty="0">
              <a:solidFill>
                <a:srgbClr val="D9D9D9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/>
            <a:endParaRPr 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1038225" y="118692"/>
            <a:ext cx="908354" cy="910008"/>
          </a:xfrm>
          <a:custGeom>
            <a:avLst/>
            <a:gdLst/>
            <a:ahLst/>
            <a:cxnLst/>
            <a:rect l="l" t="t" r="r" b="b"/>
            <a:pathLst>
              <a:path w="908354" h="910008">
                <a:moveTo>
                  <a:pt x="0" y="0"/>
                </a:moveTo>
                <a:lnTo>
                  <a:pt x="908354" y="0"/>
                </a:lnTo>
                <a:lnTo>
                  <a:pt x="908354" y="910008"/>
                </a:lnTo>
                <a:lnTo>
                  <a:pt x="0" y="9100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6408108" y="118692"/>
            <a:ext cx="851192" cy="852742"/>
          </a:xfrm>
          <a:custGeom>
            <a:avLst/>
            <a:gdLst/>
            <a:ahLst/>
            <a:cxnLst/>
            <a:rect l="l" t="t" r="r" b="b"/>
            <a:pathLst>
              <a:path w="851192" h="852742">
                <a:moveTo>
                  <a:pt x="851192" y="0"/>
                </a:moveTo>
                <a:lnTo>
                  <a:pt x="0" y="0"/>
                </a:lnTo>
                <a:lnTo>
                  <a:pt x="0" y="852742"/>
                </a:lnTo>
                <a:lnTo>
                  <a:pt x="851192" y="852742"/>
                </a:lnTo>
                <a:lnTo>
                  <a:pt x="85119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449353" y="1268511"/>
            <a:ext cx="14457648" cy="8743414"/>
          </a:xfrm>
          <a:custGeom>
            <a:avLst/>
            <a:gdLst/>
            <a:ahLst/>
            <a:cxnLst/>
            <a:rect l="l" t="t" r="r" b="b"/>
            <a:pathLst>
              <a:path w="15235869" h="8743414">
                <a:moveTo>
                  <a:pt x="0" y="0"/>
                </a:moveTo>
                <a:lnTo>
                  <a:pt x="15235869" y="0"/>
                </a:lnTo>
                <a:lnTo>
                  <a:pt x="15235869" y="8743414"/>
                </a:lnTo>
                <a:lnTo>
                  <a:pt x="0" y="87434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578" t="-28505" r="-46726" b="-19728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327848" y="0"/>
            <a:ext cx="5632304" cy="7752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59"/>
              </a:lnSpc>
            </a:pPr>
            <a:r>
              <a:rPr lang="en-US" sz="4400" b="1" spc="-287" dirty="0">
                <a:solidFill>
                  <a:srgbClr val="C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POWER BI DASHBOARD</a:t>
            </a:r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553A8DFA-4009-4375-98A2-BB2187A70E82}"/>
              </a:ext>
            </a:extLst>
          </p:cNvPr>
          <p:cNvSpPr/>
          <p:nvPr/>
        </p:nvSpPr>
        <p:spPr>
          <a:xfrm>
            <a:off x="-1" y="2769273"/>
            <a:ext cx="3449354" cy="5741889"/>
          </a:xfrm>
          <a:prstGeom prst="flowChartProcess">
            <a:avLst/>
          </a:prstGeom>
          <a:solidFill>
            <a:srgbClr val="C00000">
              <a:alpha val="1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792"/>
              </a:lnSpc>
              <a:spcBef>
                <a:spcPct val="0"/>
              </a:spcBef>
            </a:pPr>
            <a:r>
              <a:rPr lang="en-US" sz="1994" b="1" spc="-79" dirty="0">
                <a:solidFill>
                  <a:srgbClr val="C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 </a:t>
            </a:r>
            <a:r>
              <a:rPr lang="en-US" sz="1994" b="1" spc="-79" dirty="0">
                <a:solidFill>
                  <a:srgbClr val="C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VISUALS:</a:t>
            </a:r>
          </a:p>
          <a:p>
            <a:pPr marL="430696" lvl="1" indent="-215348">
              <a:lnSpc>
                <a:spcPts val="2792"/>
              </a:lnSpc>
              <a:buFont typeface="Arial"/>
              <a:buChar char="•"/>
            </a:pPr>
            <a:r>
              <a:rPr lang="en-US" sz="1994" b="1" spc="-79" dirty="0">
                <a:solidFill>
                  <a:srgbClr val="D9D9D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CARDS: TOTAL TITLES, MOVIES, TV SHOWS</a:t>
            </a:r>
          </a:p>
          <a:p>
            <a:pPr marL="430696" lvl="1" indent="-215348">
              <a:lnSpc>
                <a:spcPts val="2792"/>
              </a:lnSpc>
              <a:buFont typeface="Arial"/>
              <a:buChar char="•"/>
            </a:pPr>
            <a:r>
              <a:rPr lang="en-US" sz="1994" b="1" spc="-79" dirty="0">
                <a:solidFill>
                  <a:srgbClr val="D9D9D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LINE CHART: TITLES ADDED PER YEAR</a:t>
            </a:r>
          </a:p>
          <a:p>
            <a:pPr marL="430696" lvl="1" indent="-215348">
              <a:lnSpc>
                <a:spcPts val="2792"/>
              </a:lnSpc>
              <a:buFont typeface="Arial"/>
              <a:buChar char="•"/>
            </a:pPr>
            <a:r>
              <a:rPr lang="en-US" sz="1994" b="1" spc="-79" dirty="0">
                <a:solidFill>
                  <a:srgbClr val="D9D9D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BAR CHART:COUNT OF TITLE BY DIRECTOR </a:t>
            </a:r>
          </a:p>
          <a:p>
            <a:pPr marL="430696" lvl="1" indent="-215348">
              <a:lnSpc>
                <a:spcPts val="2792"/>
              </a:lnSpc>
              <a:buFont typeface="Arial"/>
              <a:buChar char="•"/>
            </a:pPr>
            <a:r>
              <a:rPr lang="en-US" sz="1994" b="1" spc="-79" dirty="0">
                <a:solidFill>
                  <a:srgbClr val="D9D9D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PIE CHART: RATINGS DISTRIBUTION</a:t>
            </a:r>
          </a:p>
          <a:p>
            <a:pPr marL="215348" lvl="1">
              <a:lnSpc>
                <a:spcPts val="2792"/>
              </a:lnSpc>
            </a:pPr>
            <a:r>
              <a:rPr lang="en-US" sz="1994" b="1" spc="-79" dirty="0">
                <a:solidFill>
                  <a:srgbClr val="C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📂 FILE: </a:t>
            </a:r>
            <a:r>
              <a:rPr lang="en-US" sz="1994" b="1" spc="-79" dirty="0">
                <a:solidFill>
                  <a:srgbClr val="D9D9D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/DASHBOARDS/NETFLIX_DASHBOARD.PBIX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13590" y="147325"/>
            <a:ext cx="908354" cy="910008"/>
          </a:xfrm>
          <a:custGeom>
            <a:avLst/>
            <a:gdLst/>
            <a:ahLst/>
            <a:cxnLst/>
            <a:rect l="l" t="t" r="r" b="b"/>
            <a:pathLst>
              <a:path w="908354" h="910008">
                <a:moveTo>
                  <a:pt x="0" y="0"/>
                </a:moveTo>
                <a:lnTo>
                  <a:pt x="908354" y="0"/>
                </a:lnTo>
                <a:lnTo>
                  <a:pt x="908354" y="910008"/>
                </a:lnTo>
                <a:lnTo>
                  <a:pt x="0" y="9100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6366056" y="147325"/>
            <a:ext cx="851192" cy="852742"/>
          </a:xfrm>
          <a:custGeom>
            <a:avLst/>
            <a:gdLst/>
            <a:ahLst/>
            <a:cxnLst/>
            <a:rect l="l" t="t" r="r" b="b"/>
            <a:pathLst>
              <a:path w="851192" h="852742">
                <a:moveTo>
                  <a:pt x="851192" y="0"/>
                </a:moveTo>
                <a:lnTo>
                  <a:pt x="0" y="0"/>
                </a:lnTo>
                <a:lnTo>
                  <a:pt x="0" y="852742"/>
                </a:lnTo>
                <a:lnTo>
                  <a:pt x="851192" y="852742"/>
                </a:lnTo>
                <a:lnTo>
                  <a:pt x="85119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431496" y="1453973"/>
            <a:ext cx="11142192" cy="8670398"/>
          </a:xfrm>
          <a:custGeom>
            <a:avLst/>
            <a:gdLst/>
            <a:ahLst/>
            <a:cxnLst/>
            <a:rect l="l" t="t" r="r" b="b"/>
            <a:pathLst>
              <a:path w="11142192" h="8670398">
                <a:moveTo>
                  <a:pt x="0" y="0"/>
                </a:moveTo>
                <a:lnTo>
                  <a:pt x="11142191" y="0"/>
                </a:lnTo>
                <a:lnTo>
                  <a:pt x="11142191" y="8670398"/>
                </a:lnTo>
                <a:lnTo>
                  <a:pt x="0" y="86703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48881" b="-7568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284400" y="147325"/>
            <a:ext cx="5716053" cy="8420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93"/>
              </a:lnSpc>
            </a:pPr>
            <a:r>
              <a:rPr lang="en-US" sz="6889" b="1" spc="-275" dirty="0">
                <a:solidFill>
                  <a:srgbClr val="C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4400" b="1" spc="-275" dirty="0">
                <a:solidFill>
                  <a:srgbClr val="C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TABLEAU DASHBOARD</a:t>
            </a:r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4121FD4C-DA0F-413A-8EF8-CB4CDA65C22C}"/>
              </a:ext>
            </a:extLst>
          </p:cNvPr>
          <p:cNvSpPr/>
          <p:nvPr/>
        </p:nvSpPr>
        <p:spPr>
          <a:xfrm>
            <a:off x="1" y="2898046"/>
            <a:ext cx="6431496" cy="5445854"/>
          </a:xfrm>
          <a:prstGeom prst="flowChartProcess">
            <a:avLst/>
          </a:prstGeom>
          <a:solidFill>
            <a:srgbClr val="C00000">
              <a:alpha val="2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700"/>
              </a:lnSpc>
            </a:pPr>
            <a:r>
              <a:rPr lang="en-US" sz="2643" b="1" spc="-105" dirty="0">
                <a:solidFill>
                  <a:srgbClr val="C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VISUALS:</a:t>
            </a:r>
          </a:p>
          <a:p>
            <a:pPr marL="570649" lvl="1" indent="-285324">
              <a:lnSpc>
                <a:spcPts val="3700"/>
              </a:lnSpc>
              <a:buFont typeface="Arial"/>
              <a:buChar char="•"/>
            </a:pPr>
            <a:r>
              <a:rPr lang="en-US" sz="2643" b="1" spc="-105" dirty="0">
                <a:solidFill>
                  <a:srgbClr val="D9D9D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BAR CHART: TOP 10 COUNTRIES BY TITLES</a:t>
            </a:r>
          </a:p>
          <a:p>
            <a:pPr marL="570649" lvl="1" indent="-285324">
              <a:lnSpc>
                <a:spcPts val="3700"/>
              </a:lnSpc>
              <a:buFont typeface="Arial"/>
              <a:buChar char="•"/>
            </a:pPr>
            <a:r>
              <a:rPr lang="en-US" sz="2643" b="1" spc="-105" dirty="0">
                <a:solidFill>
                  <a:srgbClr val="D9D9D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HEATMAP: GENRE VS RATING DISTRIBUTION</a:t>
            </a:r>
          </a:p>
          <a:p>
            <a:pPr marL="285325" lvl="1">
              <a:lnSpc>
                <a:spcPts val="3700"/>
              </a:lnSpc>
            </a:pPr>
            <a:r>
              <a:rPr lang="en-US" sz="2643" b="1" spc="-105" dirty="0">
                <a:solidFill>
                  <a:srgbClr val="C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📂 FILE:</a:t>
            </a:r>
            <a:r>
              <a:rPr lang="en-US" sz="2643" b="1" spc="-105" dirty="0">
                <a:solidFill>
                  <a:srgbClr val="D9D9D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/DASHBOARDS/NETFLIX_TABLEAU.TWBX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747411" y="174548"/>
            <a:ext cx="852599" cy="854152"/>
          </a:xfrm>
          <a:custGeom>
            <a:avLst/>
            <a:gdLst/>
            <a:ahLst/>
            <a:cxnLst/>
            <a:rect l="l" t="t" r="r" b="b"/>
            <a:pathLst>
              <a:path w="852599" h="854152">
                <a:moveTo>
                  <a:pt x="0" y="0"/>
                </a:moveTo>
                <a:lnTo>
                  <a:pt x="852599" y="0"/>
                </a:lnTo>
                <a:lnTo>
                  <a:pt x="852599" y="854152"/>
                </a:lnTo>
                <a:lnTo>
                  <a:pt x="0" y="8541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6406701" y="174548"/>
            <a:ext cx="852599" cy="854152"/>
          </a:xfrm>
          <a:custGeom>
            <a:avLst/>
            <a:gdLst/>
            <a:ahLst/>
            <a:cxnLst/>
            <a:rect l="l" t="t" r="r" b="b"/>
            <a:pathLst>
              <a:path w="852599" h="854152">
                <a:moveTo>
                  <a:pt x="852599" y="0"/>
                </a:moveTo>
                <a:lnTo>
                  <a:pt x="0" y="0"/>
                </a:lnTo>
                <a:lnTo>
                  <a:pt x="0" y="854152"/>
                </a:lnTo>
                <a:lnTo>
                  <a:pt x="852599" y="854152"/>
                </a:lnTo>
                <a:lnTo>
                  <a:pt x="85259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10210" y="3830783"/>
            <a:ext cx="8255924" cy="5872980"/>
          </a:xfrm>
          <a:custGeom>
            <a:avLst/>
            <a:gdLst/>
            <a:ahLst/>
            <a:cxnLst/>
            <a:rect l="l" t="t" r="r" b="b"/>
            <a:pathLst>
              <a:path w="8255924" h="5872980">
                <a:moveTo>
                  <a:pt x="0" y="0"/>
                </a:moveTo>
                <a:lnTo>
                  <a:pt x="8255924" y="0"/>
                </a:lnTo>
                <a:lnTo>
                  <a:pt x="8255924" y="5872981"/>
                </a:lnTo>
                <a:lnTo>
                  <a:pt x="0" y="58729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0560" t="-74240" r="-103027" b="-41988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911309" y="3830783"/>
            <a:ext cx="9148091" cy="5872980"/>
          </a:xfrm>
          <a:custGeom>
            <a:avLst/>
            <a:gdLst/>
            <a:ahLst/>
            <a:cxnLst/>
            <a:rect l="l" t="t" r="r" b="b"/>
            <a:pathLst>
              <a:path w="9376691" h="5872980">
                <a:moveTo>
                  <a:pt x="0" y="0"/>
                </a:moveTo>
                <a:lnTo>
                  <a:pt x="9376691" y="0"/>
                </a:lnTo>
                <a:lnTo>
                  <a:pt x="9376691" y="5872981"/>
                </a:lnTo>
                <a:lnTo>
                  <a:pt x="0" y="58729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3294" t="-91556" r="-103001" b="-74410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265063" y="-61845"/>
            <a:ext cx="7292492" cy="10393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20"/>
              </a:lnSpc>
              <a:spcBef>
                <a:spcPct val="0"/>
              </a:spcBef>
            </a:pPr>
            <a:r>
              <a:rPr lang="en-US" sz="6014" b="1" spc="-240" dirty="0">
                <a:solidFill>
                  <a:srgbClr val="C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4400" b="1" spc="-240" dirty="0">
                <a:solidFill>
                  <a:srgbClr val="C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EXCEL EXECUTIVE SUMMARY</a:t>
            </a:r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D5DA8137-5EB9-4F80-8132-EA70F369A93D}"/>
              </a:ext>
            </a:extLst>
          </p:cNvPr>
          <p:cNvSpPr/>
          <p:nvPr/>
        </p:nvSpPr>
        <p:spPr>
          <a:xfrm>
            <a:off x="1904999" y="1039323"/>
            <a:ext cx="14501701" cy="2503977"/>
          </a:xfrm>
          <a:prstGeom prst="flowChartProcess">
            <a:avLst/>
          </a:prstGeom>
          <a:solidFill>
            <a:srgbClr val="C00000">
              <a:alpha val="1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484"/>
              </a:lnSpc>
              <a:spcBef>
                <a:spcPct val="0"/>
              </a:spcBef>
            </a:pPr>
            <a:r>
              <a:rPr lang="en-US" sz="2400" b="1" spc="-99" dirty="0">
                <a:solidFill>
                  <a:srgbClr val="C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SHEETS INCLUDED:</a:t>
            </a:r>
          </a:p>
          <a:p>
            <a:pPr>
              <a:lnSpc>
                <a:spcPts val="3484"/>
              </a:lnSpc>
              <a:spcBef>
                <a:spcPct val="0"/>
              </a:spcBef>
            </a:pPr>
            <a:r>
              <a:rPr lang="en-US" sz="2000" b="1" spc="-99" dirty="0">
                <a:solidFill>
                  <a:srgbClr val="D9D9D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1. </a:t>
            </a:r>
            <a:r>
              <a:rPr lang="en-US" sz="2000" b="1" spc="-99" dirty="0">
                <a:solidFill>
                  <a:schemeClr val="bg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OVERVIEW</a:t>
            </a:r>
            <a:r>
              <a:rPr lang="en-US" sz="2000" b="1" spc="-99" dirty="0">
                <a:solidFill>
                  <a:srgbClr val="D9D9D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– TOTAL TITLES AND TYPE COUNT</a:t>
            </a:r>
          </a:p>
          <a:p>
            <a:pPr>
              <a:lnSpc>
                <a:spcPts val="3484"/>
              </a:lnSpc>
              <a:spcBef>
                <a:spcPct val="0"/>
              </a:spcBef>
            </a:pPr>
            <a:r>
              <a:rPr lang="en-US" sz="2000" b="1" spc="-99" dirty="0">
                <a:solidFill>
                  <a:srgbClr val="D9D9D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2. TOP COUNTRIES – BAR CHART VISUALIZATION</a:t>
            </a:r>
          </a:p>
          <a:p>
            <a:pPr>
              <a:lnSpc>
                <a:spcPts val="3484"/>
              </a:lnSpc>
              <a:spcBef>
                <a:spcPct val="0"/>
              </a:spcBef>
            </a:pPr>
            <a:r>
              <a:rPr lang="en-US" sz="2000" b="1" spc="-99" dirty="0">
                <a:solidFill>
                  <a:srgbClr val="D9D9D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3. GENRES – PIE CHART VISUALIZATION</a:t>
            </a:r>
          </a:p>
          <a:p>
            <a:pPr>
              <a:lnSpc>
                <a:spcPts val="3484"/>
              </a:lnSpc>
              <a:spcBef>
                <a:spcPct val="0"/>
              </a:spcBef>
            </a:pPr>
            <a:r>
              <a:rPr lang="en-US" sz="2400" b="1" spc="-99" dirty="0">
                <a:solidFill>
                  <a:srgbClr val="C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📂 FILE: </a:t>
            </a:r>
            <a:r>
              <a:rPr lang="en-US" sz="2400" b="1" spc="-99" dirty="0">
                <a:solidFill>
                  <a:srgbClr val="D9D9D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/REPORTS/NETFLIX_EXECUTIVE_SUMMARY.XLSX</a:t>
            </a:r>
          </a:p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2400" y="174548"/>
            <a:ext cx="852599" cy="854152"/>
          </a:xfrm>
          <a:custGeom>
            <a:avLst/>
            <a:gdLst/>
            <a:ahLst/>
            <a:cxnLst/>
            <a:rect l="l" t="t" r="r" b="b"/>
            <a:pathLst>
              <a:path w="852599" h="854152">
                <a:moveTo>
                  <a:pt x="0" y="0"/>
                </a:moveTo>
                <a:lnTo>
                  <a:pt x="852600" y="0"/>
                </a:lnTo>
                <a:lnTo>
                  <a:pt x="852600" y="854152"/>
                </a:lnTo>
                <a:lnTo>
                  <a:pt x="0" y="854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6833001" y="274560"/>
            <a:ext cx="852599" cy="854152"/>
          </a:xfrm>
          <a:custGeom>
            <a:avLst/>
            <a:gdLst/>
            <a:ahLst/>
            <a:cxnLst/>
            <a:rect l="l" t="t" r="r" b="b"/>
            <a:pathLst>
              <a:path w="852599" h="854152">
                <a:moveTo>
                  <a:pt x="852600" y="0"/>
                </a:moveTo>
                <a:lnTo>
                  <a:pt x="0" y="0"/>
                </a:lnTo>
                <a:lnTo>
                  <a:pt x="0" y="854152"/>
                </a:lnTo>
                <a:lnTo>
                  <a:pt x="852600" y="854152"/>
                </a:lnTo>
                <a:lnTo>
                  <a:pt x="8526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516077" y="-71342"/>
            <a:ext cx="9255846" cy="1064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461"/>
              </a:lnSpc>
              <a:spcBef>
                <a:spcPct val="0"/>
              </a:spcBef>
            </a:pPr>
            <a:r>
              <a:rPr lang="en-US" sz="4400" b="1" spc="-270" dirty="0">
                <a:solidFill>
                  <a:srgbClr val="C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💡 KEY INSIGHTS FROM THE ANALYSIS</a:t>
            </a:r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E75C81D3-DACD-44ED-BE46-9CBAE42415DB}"/>
              </a:ext>
            </a:extLst>
          </p:cNvPr>
          <p:cNvSpPr/>
          <p:nvPr/>
        </p:nvSpPr>
        <p:spPr>
          <a:xfrm flipH="1">
            <a:off x="931649" y="1562100"/>
            <a:ext cx="16424701" cy="7924800"/>
          </a:xfrm>
          <a:prstGeom prst="flowChartProcess">
            <a:avLst/>
          </a:prstGeom>
          <a:solidFill>
            <a:srgbClr val="C00000">
              <a:alpha val="15000"/>
            </a:srgb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Poppins Semi-Bold" panose="020B0604020202020204" charset="0"/>
                <a:cs typeface="Poppins Semi-Bold" panose="020B0604020202020204" charset="0"/>
              </a:rPr>
              <a:t>Movies dominate Netflix’s catalog, accounting for nearly 70% of total titles, while TV Shows form the remaining 30%, showing a clear preference toward film content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chemeClr val="bg1"/>
              </a:solidFill>
              <a:latin typeface="Poppins Semi-Bold" panose="020B0604020202020204" charset="0"/>
              <a:cs typeface="Poppins Semi-Bold" panose="020B060402020202020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Poppins Semi-Bold" panose="020B0604020202020204" charset="0"/>
                <a:cs typeface="Poppins Semi-Bold" panose="020B0604020202020204" charset="0"/>
              </a:rPr>
              <a:t>USA, India, and the UK lead as the top content-producing countries, reflecting Netflix’s global partnerships and regional expansion strategy.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solidFill>
                <a:schemeClr val="bg1"/>
              </a:solidFill>
              <a:latin typeface="Poppins Semi-Bold" panose="020B0604020202020204" charset="0"/>
              <a:cs typeface="Poppins Semi-Bold" panose="020B060402020202020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Poppins Semi-Bold" panose="020B0604020202020204" charset="0"/>
                <a:cs typeface="Poppins Semi-Bold" panose="020B0604020202020204" charset="0"/>
              </a:rPr>
              <a:t>Dramas and Comedies are the most common genres, indicating viewer interest in story-driven and light-entertainment content across audiences.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solidFill>
                <a:schemeClr val="bg1"/>
              </a:solidFill>
              <a:latin typeface="Poppins Semi-Bold" panose="020B0604020202020204" charset="0"/>
              <a:cs typeface="Poppins Semi-Bold" panose="020B060402020202020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Poppins Semi-Bold" panose="020B0604020202020204" charset="0"/>
                <a:cs typeface="Poppins Semi-Bold" panose="020B0604020202020204" charset="0"/>
              </a:rPr>
              <a:t>Content addition accelerated significantly after 2015, aligning with Netflix’s global expansion phase and increased production of Originals.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solidFill>
                <a:schemeClr val="bg1"/>
              </a:solidFill>
              <a:latin typeface="Poppins Semi-Bold" panose="020B0604020202020204" charset="0"/>
              <a:cs typeface="Poppins Semi-Bold" panose="020B060402020202020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Poppins Semi-Bold" panose="020B0604020202020204" charset="0"/>
                <a:cs typeface="Poppins Semi-Bold" panose="020B0604020202020204" charset="0"/>
              </a:rPr>
              <a:t>IMDb data enrichment revealed that Documentaries and Dramas generally receive higher average ratings, indicating stronger audience engagement and quality perception.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solidFill>
                <a:schemeClr val="bg1"/>
              </a:solidFill>
              <a:latin typeface="Poppins Semi-Bold" panose="020B0604020202020204" charset="0"/>
              <a:cs typeface="Poppins Semi-Bold" panose="020B060402020202020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Poppins Semi-Bold" panose="020B0604020202020204" charset="0"/>
                <a:cs typeface="Poppins Semi-Bold" panose="020B0604020202020204" charset="0"/>
              </a:rPr>
              <a:t>Power BI and Tableau dashboards provided clear visualization of country-wise distribution, genre popularity, and ratings trends, enabling better business understanding of content diversity.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solidFill>
                <a:schemeClr val="bg1"/>
              </a:solidFill>
              <a:latin typeface="Poppins Semi-Bold" panose="020B0604020202020204" charset="0"/>
              <a:cs typeface="Poppins Semi-Bold" panose="020B060402020202020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Poppins Semi-Bold" panose="020B0604020202020204" charset="0"/>
                <a:cs typeface="Poppins Semi-Bold" panose="020B0604020202020204" charset="0"/>
              </a:rPr>
              <a:t>SQL analysis confirmed dataset reliability, supporting accurate grouping, filtering, and aggregation for decision-ready insights.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solidFill>
                <a:schemeClr val="bg1"/>
              </a:solidFill>
              <a:latin typeface="Poppins Semi-Bold" panose="020B0604020202020204" charset="0"/>
              <a:cs typeface="Poppins Semi-Bold" panose="020B060402020202020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Poppins Semi-Bold" panose="020B0604020202020204" charset="0"/>
                <a:cs typeface="Poppins Semi-Bold" panose="020B0604020202020204" charset="0"/>
              </a:rPr>
              <a:t>Overall insight: Netflix’s content strategy emphasizes quantity and diversity, but future growth could focus on regional and highly rated genres to improve user satisfaction and retention.</a:t>
            </a:r>
          </a:p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2400" y="174548"/>
            <a:ext cx="852599" cy="854152"/>
          </a:xfrm>
          <a:custGeom>
            <a:avLst/>
            <a:gdLst/>
            <a:ahLst/>
            <a:cxnLst/>
            <a:rect l="l" t="t" r="r" b="b"/>
            <a:pathLst>
              <a:path w="852599" h="854152">
                <a:moveTo>
                  <a:pt x="0" y="0"/>
                </a:moveTo>
                <a:lnTo>
                  <a:pt x="852600" y="0"/>
                </a:lnTo>
                <a:lnTo>
                  <a:pt x="852600" y="854152"/>
                </a:lnTo>
                <a:lnTo>
                  <a:pt x="0" y="854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6833000" y="88430"/>
            <a:ext cx="852599" cy="854152"/>
          </a:xfrm>
          <a:custGeom>
            <a:avLst/>
            <a:gdLst/>
            <a:ahLst/>
            <a:cxnLst/>
            <a:rect l="l" t="t" r="r" b="b"/>
            <a:pathLst>
              <a:path w="852599" h="854152">
                <a:moveTo>
                  <a:pt x="852600" y="0"/>
                </a:moveTo>
                <a:lnTo>
                  <a:pt x="0" y="0"/>
                </a:lnTo>
                <a:lnTo>
                  <a:pt x="0" y="854152"/>
                </a:lnTo>
                <a:lnTo>
                  <a:pt x="852600" y="854152"/>
                </a:lnTo>
                <a:lnTo>
                  <a:pt x="8526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574718" y="8496300"/>
            <a:ext cx="1110882" cy="1443155"/>
          </a:xfrm>
          <a:custGeom>
            <a:avLst/>
            <a:gdLst/>
            <a:ahLst/>
            <a:cxnLst/>
            <a:rect l="l" t="t" r="r" b="b"/>
            <a:pathLst>
              <a:path w="1110882" h="1443155">
                <a:moveTo>
                  <a:pt x="0" y="0"/>
                </a:moveTo>
                <a:lnTo>
                  <a:pt x="1110882" y="0"/>
                </a:lnTo>
                <a:lnTo>
                  <a:pt x="1110882" y="1443154"/>
                </a:lnTo>
                <a:lnTo>
                  <a:pt x="0" y="1443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866992" y="-401219"/>
            <a:ext cx="6554016" cy="11515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72"/>
              </a:lnSpc>
              <a:spcBef>
                <a:spcPct val="0"/>
              </a:spcBef>
            </a:pPr>
            <a:r>
              <a:rPr lang="en-US" sz="4400" b="1" spc="-296" dirty="0">
                <a:solidFill>
                  <a:srgbClr val="C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🎯 PROJECT CONCLUSION</a:t>
            </a: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0830329B-4DE6-4431-85A0-31FD856666EB}"/>
              </a:ext>
            </a:extLst>
          </p:cNvPr>
          <p:cNvSpPr/>
          <p:nvPr/>
        </p:nvSpPr>
        <p:spPr>
          <a:xfrm>
            <a:off x="1587906" y="1333500"/>
            <a:ext cx="14775601" cy="8343900"/>
          </a:xfrm>
          <a:prstGeom prst="flowChartProcess">
            <a:avLst/>
          </a:prstGeom>
          <a:solidFill>
            <a:srgbClr val="C00000">
              <a:alpha val="14000"/>
            </a:srgb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07919" lvl="1" indent="-453959">
              <a:lnSpc>
                <a:spcPts val="5887"/>
              </a:lnSpc>
              <a:buFont typeface="Arial"/>
              <a:buChar char="•"/>
            </a:pPr>
            <a:r>
              <a:rPr lang="en-US" sz="4205" b="1" spc="-168" dirty="0">
                <a:solidFill>
                  <a:srgbClr val="D9D9D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NETFLIX’S LIBRARY IS MOVIE-DOMINANT WITH A STRONG INTERNATIONAL FOCUS.</a:t>
            </a:r>
          </a:p>
          <a:p>
            <a:pPr marL="907919" lvl="1" indent="-453959">
              <a:lnSpc>
                <a:spcPts val="5887"/>
              </a:lnSpc>
              <a:buFont typeface="Arial"/>
              <a:buChar char="•"/>
            </a:pPr>
            <a:r>
              <a:rPr lang="en-US" sz="4205" b="1" spc="-168" dirty="0">
                <a:solidFill>
                  <a:srgbClr val="D9D9D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USA, INDIA, AND UK LEAD IN GLOBAL CONTENT PRODUCTION.</a:t>
            </a:r>
          </a:p>
          <a:p>
            <a:pPr marL="907919" lvl="1" indent="-453959">
              <a:lnSpc>
                <a:spcPts val="5887"/>
              </a:lnSpc>
              <a:buFont typeface="Arial"/>
              <a:buChar char="•"/>
            </a:pPr>
            <a:r>
              <a:rPr lang="en-US" sz="4205" b="1" spc="-168" dirty="0">
                <a:solidFill>
                  <a:srgbClr val="D9D9D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DRAMAS AND COMEDIES ARE THE MOST POPULAR GENRES.</a:t>
            </a:r>
          </a:p>
          <a:p>
            <a:pPr marL="907919" lvl="1" indent="-453959">
              <a:lnSpc>
                <a:spcPts val="5887"/>
              </a:lnSpc>
              <a:buFont typeface="Arial"/>
              <a:buChar char="•"/>
            </a:pPr>
            <a:r>
              <a:rPr lang="en-US" sz="4205" b="1" spc="-168" dirty="0">
                <a:solidFill>
                  <a:srgbClr val="D9D9D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INTEGRATING IMDB DATA ENHANCED QUALITY AND RATING INSIGHTS.</a:t>
            </a:r>
          </a:p>
          <a:p>
            <a:pPr marL="907919" lvl="1" indent="-453959">
              <a:lnSpc>
                <a:spcPts val="5887"/>
              </a:lnSpc>
              <a:buFont typeface="Arial"/>
              <a:buChar char="•"/>
            </a:pPr>
            <a:r>
              <a:rPr lang="en-US" sz="4205" b="1" spc="-168" dirty="0">
                <a:solidFill>
                  <a:srgbClr val="D9D9D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POWER BI &amp; TABLEAU DASHBOARDS OFFER CLEAR BUSINESS UNDERSTANDING.</a:t>
            </a:r>
          </a:p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2400" y="174548"/>
            <a:ext cx="852599" cy="854152"/>
          </a:xfrm>
          <a:custGeom>
            <a:avLst/>
            <a:gdLst/>
            <a:ahLst/>
            <a:cxnLst/>
            <a:rect l="l" t="t" r="r" b="b"/>
            <a:pathLst>
              <a:path w="852599" h="854152">
                <a:moveTo>
                  <a:pt x="0" y="0"/>
                </a:moveTo>
                <a:lnTo>
                  <a:pt x="852600" y="0"/>
                </a:lnTo>
                <a:lnTo>
                  <a:pt x="852600" y="854152"/>
                </a:lnTo>
                <a:lnTo>
                  <a:pt x="0" y="854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6833000" y="88430"/>
            <a:ext cx="852599" cy="854152"/>
          </a:xfrm>
          <a:custGeom>
            <a:avLst/>
            <a:gdLst/>
            <a:ahLst/>
            <a:cxnLst/>
            <a:rect l="l" t="t" r="r" b="b"/>
            <a:pathLst>
              <a:path w="852599" h="854152">
                <a:moveTo>
                  <a:pt x="852600" y="0"/>
                </a:moveTo>
                <a:lnTo>
                  <a:pt x="0" y="0"/>
                </a:lnTo>
                <a:lnTo>
                  <a:pt x="0" y="854152"/>
                </a:lnTo>
                <a:lnTo>
                  <a:pt x="852600" y="854152"/>
                </a:lnTo>
                <a:lnTo>
                  <a:pt x="8526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786714" y="-75474"/>
            <a:ext cx="12714571" cy="11628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415"/>
              </a:lnSpc>
              <a:spcBef>
                <a:spcPct val="0"/>
              </a:spcBef>
            </a:pPr>
            <a:r>
              <a:rPr lang="en-US" sz="6725" b="1" spc="-269" dirty="0">
                <a:solidFill>
                  <a:srgbClr val="C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TOOLS, REFERENCES &amp; CONTACT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5985" y="1431672"/>
            <a:ext cx="10442396" cy="1663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4"/>
              </a:lnSpc>
              <a:spcBef>
                <a:spcPct val="0"/>
              </a:spcBef>
            </a:pPr>
            <a:r>
              <a:rPr lang="en-US" sz="3110" b="1" spc="-124" dirty="0">
                <a:solidFill>
                  <a:srgbClr val="C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1. TOOLS &amp; TECHNOLOGIES </a:t>
            </a:r>
          </a:p>
          <a:p>
            <a:pPr algn="l">
              <a:lnSpc>
                <a:spcPts val="4354"/>
              </a:lnSpc>
              <a:spcBef>
                <a:spcPct val="0"/>
              </a:spcBef>
            </a:pPr>
            <a:r>
              <a:rPr lang="en-US" sz="3110" b="1" spc="-124" dirty="0">
                <a:gradFill>
                  <a:gsLst>
                    <a:gs pos="0">
                      <a:srgbClr val="785C3A">
                        <a:alpha val="100000"/>
                      </a:srgbClr>
                    </a:gs>
                    <a:gs pos="25000">
                      <a:srgbClr val="E2C29A">
                        <a:alpha val="100000"/>
                      </a:srgbClr>
                    </a:gs>
                    <a:gs pos="50000">
                      <a:srgbClr val="785C3A">
                        <a:alpha val="100000"/>
                      </a:srgbClr>
                    </a:gs>
                    <a:gs pos="75000">
                      <a:srgbClr val="AC8E68">
                        <a:alpha val="100000"/>
                      </a:srgbClr>
                    </a:gs>
                    <a:gs pos="100000">
                      <a:srgbClr val="785C3A">
                        <a:alpha val="100000"/>
                      </a:srgbClr>
                    </a:gs>
                  </a:gsLst>
                  <a:lin ang="5400000"/>
                </a:gradFill>
                <a:latin typeface="Poppins Semi-Bold"/>
                <a:ea typeface="Poppins Semi-Bold"/>
                <a:cs typeface="Poppins Semi-Bold"/>
                <a:sym typeface="Poppins Semi-Bold"/>
              </a:rPr>
              <a:t>🐍 PYTHON | 🗃 SQL | 📊 POWER BI | 📈 TABLEAU | 📘 EXCEL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25985" y="3084706"/>
            <a:ext cx="11086322" cy="2058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b="1" spc="-116" dirty="0">
                <a:solidFill>
                  <a:srgbClr val="C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2. REFERENCES 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b="1" spc="-116" dirty="0">
                <a:gradFill>
                  <a:gsLst>
                    <a:gs pos="0">
                      <a:srgbClr val="785C3A">
                        <a:alpha val="100000"/>
                      </a:srgbClr>
                    </a:gs>
                    <a:gs pos="25000">
                      <a:srgbClr val="E2C29A">
                        <a:alpha val="100000"/>
                      </a:srgbClr>
                    </a:gs>
                    <a:gs pos="50000">
                      <a:srgbClr val="785C3A">
                        <a:alpha val="100000"/>
                      </a:srgbClr>
                    </a:gs>
                    <a:gs pos="75000">
                      <a:srgbClr val="AC8E68">
                        <a:alpha val="100000"/>
                      </a:srgbClr>
                    </a:gs>
                    <a:gs pos="100000">
                      <a:srgbClr val="785C3A">
                        <a:alpha val="100000"/>
                      </a:srgbClr>
                    </a:gs>
                  </a:gsLst>
                  <a:lin ang="5400000"/>
                </a:gradFill>
                <a:latin typeface="Poppins Semi-Bold"/>
                <a:ea typeface="Poppins Semi-Bold"/>
                <a:cs typeface="Poppins Semi-Bold"/>
                <a:sym typeface="Poppins Semi-Bold"/>
              </a:rPr>
              <a:t>KAGGLE NETFLIX DATASET (SHIVAM BANSAL)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b="1" spc="-116" dirty="0">
                <a:gradFill>
                  <a:gsLst>
                    <a:gs pos="0">
                      <a:srgbClr val="785C3A">
                        <a:alpha val="100000"/>
                      </a:srgbClr>
                    </a:gs>
                    <a:gs pos="25000">
                      <a:srgbClr val="E2C29A">
                        <a:alpha val="100000"/>
                      </a:srgbClr>
                    </a:gs>
                    <a:gs pos="50000">
                      <a:srgbClr val="785C3A">
                        <a:alpha val="100000"/>
                      </a:srgbClr>
                    </a:gs>
                    <a:gs pos="75000">
                      <a:srgbClr val="AC8E68">
                        <a:alpha val="100000"/>
                      </a:srgbClr>
                    </a:gs>
                    <a:gs pos="100000">
                      <a:srgbClr val="785C3A">
                        <a:alpha val="100000"/>
                      </a:srgbClr>
                    </a:gs>
                  </a:gsLst>
                  <a:lin ang="5400000"/>
                </a:gradFill>
                <a:latin typeface="Poppins Semi-Bold"/>
                <a:ea typeface="Poppins Semi-Bold"/>
                <a:cs typeface="Poppins Semi-Bold"/>
                <a:sym typeface="Poppins Semi-Bold"/>
              </a:rPr>
              <a:t>OMDB API DOCUMENTATION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b="1" spc="-116" dirty="0">
                <a:gradFill>
                  <a:gsLst>
                    <a:gs pos="0">
                      <a:srgbClr val="785C3A">
                        <a:alpha val="100000"/>
                      </a:srgbClr>
                    </a:gs>
                    <a:gs pos="25000">
                      <a:srgbClr val="E2C29A">
                        <a:alpha val="100000"/>
                      </a:srgbClr>
                    </a:gs>
                    <a:gs pos="50000">
                      <a:srgbClr val="785C3A">
                        <a:alpha val="100000"/>
                      </a:srgbClr>
                    </a:gs>
                    <a:gs pos="75000">
                      <a:srgbClr val="AC8E68">
                        <a:alpha val="100000"/>
                      </a:srgbClr>
                    </a:gs>
                    <a:gs pos="100000">
                      <a:srgbClr val="785C3A">
                        <a:alpha val="100000"/>
                      </a:srgbClr>
                    </a:gs>
                  </a:gsLst>
                  <a:lin ang="5400000"/>
                </a:gradFill>
                <a:latin typeface="Poppins Semi-Bold"/>
                <a:ea typeface="Poppins Semi-Bold"/>
                <a:cs typeface="Poppins Semi-Bold"/>
                <a:sym typeface="Poppins Semi-Bold"/>
              </a:rPr>
              <a:t>PYTHON DOCS: PANDAS, MATPLOTLIB, SEABORN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03682" y="5160818"/>
            <a:ext cx="6655594" cy="2527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0"/>
              </a:lnSpc>
              <a:spcBef>
                <a:spcPct val="0"/>
              </a:spcBef>
            </a:pPr>
            <a:r>
              <a:rPr lang="en-US" sz="2878" b="1" spc="-115" dirty="0">
                <a:solidFill>
                  <a:srgbClr val="C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3. CONTACT </a:t>
            </a:r>
          </a:p>
          <a:p>
            <a:pPr algn="just">
              <a:lnSpc>
                <a:spcPts val="4030"/>
              </a:lnSpc>
              <a:spcBef>
                <a:spcPct val="0"/>
              </a:spcBef>
            </a:pPr>
            <a:r>
              <a:rPr lang="en-US" sz="2878" b="1" spc="-115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👩‍💻</a:t>
            </a:r>
            <a:r>
              <a:rPr lang="en-US" sz="2878" b="1" spc="-115" dirty="0">
                <a:gradFill>
                  <a:gsLst>
                    <a:gs pos="0">
                      <a:srgbClr val="785C3A">
                        <a:alpha val="100000"/>
                      </a:srgbClr>
                    </a:gs>
                    <a:gs pos="25000">
                      <a:srgbClr val="E2C29A">
                        <a:alpha val="100000"/>
                      </a:srgbClr>
                    </a:gs>
                    <a:gs pos="50000">
                      <a:srgbClr val="785C3A">
                        <a:alpha val="100000"/>
                      </a:srgbClr>
                    </a:gs>
                    <a:gs pos="75000">
                      <a:srgbClr val="AC8E68">
                        <a:alpha val="100000"/>
                      </a:srgbClr>
                    </a:gs>
                    <a:gs pos="100000">
                      <a:srgbClr val="785C3A">
                        <a:alpha val="100000"/>
                      </a:srgbClr>
                    </a:gs>
                  </a:gsLst>
                  <a:lin ang="5400000"/>
                </a:gradFill>
                <a:latin typeface="Poppins Semi-Bold"/>
                <a:ea typeface="Poppins Semi-Bold"/>
                <a:cs typeface="Poppins Semi-Bold"/>
                <a:sym typeface="Poppins Semi-Bold"/>
              </a:rPr>
              <a:t> DAWEEP KAUR</a:t>
            </a:r>
          </a:p>
          <a:p>
            <a:pPr algn="just">
              <a:lnSpc>
                <a:spcPts val="4030"/>
              </a:lnSpc>
              <a:spcBef>
                <a:spcPct val="0"/>
              </a:spcBef>
            </a:pPr>
            <a:r>
              <a:rPr lang="en-US" sz="2878" b="1" spc="-115" dirty="0">
                <a:gradFill>
                  <a:gsLst>
                    <a:gs pos="0">
                      <a:srgbClr val="785C3A">
                        <a:alpha val="100000"/>
                      </a:srgbClr>
                    </a:gs>
                    <a:gs pos="25000">
                      <a:srgbClr val="E2C29A">
                        <a:alpha val="100000"/>
                      </a:srgbClr>
                    </a:gs>
                    <a:gs pos="50000">
                      <a:srgbClr val="785C3A">
                        <a:alpha val="100000"/>
                      </a:srgbClr>
                    </a:gs>
                    <a:gs pos="75000">
                      <a:srgbClr val="AC8E68">
                        <a:alpha val="100000"/>
                      </a:srgbClr>
                    </a:gs>
                    <a:gs pos="100000">
                      <a:srgbClr val="785C3A">
                        <a:alpha val="100000"/>
                      </a:srgbClr>
                    </a:gs>
                  </a:gsLst>
                  <a:lin ang="5400000"/>
                </a:gradFill>
                <a:latin typeface="Poppins Semi-Bold"/>
                <a:ea typeface="Poppins Semi-Bold"/>
                <a:cs typeface="Poppins Semi-Bold"/>
                <a:sym typeface="Poppins Semi-Bold"/>
              </a:rPr>
              <a:t>🎓 DATA ANALYTICS ENTHUSIAST</a:t>
            </a:r>
          </a:p>
          <a:p>
            <a:pPr algn="ctr">
              <a:lnSpc>
                <a:spcPts val="4030"/>
              </a:lnSpc>
              <a:spcBef>
                <a:spcPct val="0"/>
              </a:spcBef>
            </a:pPr>
            <a:r>
              <a:rPr lang="en-US" sz="2878" b="1" spc="-115" dirty="0">
                <a:gradFill>
                  <a:gsLst>
                    <a:gs pos="0">
                      <a:srgbClr val="785C3A">
                        <a:alpha val="100000"/>
                      </a:srgbClr>
                    </a:gs>
                    <a:gs pos="25000">
                      <a:srgbClr val="E2C29A">
                        <a:alpha val="100000"/>
                      </a:srgbClr>
                    </a:gs>
                    <a:gs pos="50000">
                      <a:srgbClr val="785C3A">
                        <a:alpha val="100000"/>
                      </a:srgbClr>
                    </a:gs>
                    <a:gs pos="75000">
                      <a:srgbClr val="AC8E68">
                        <a:alpha val="100000"/>
                      </a:srgbClr>
                    </a:gs>
                    <a:gs pos="100000">
                      <a:srgbClr val="785C3A">
                        <a:alpha val="100000"/>
                      </a:srgbClr>
                    </a:gs>
                  </a:gsLst>
                  <a:lin ang="5400000"/>
                </a:gradFill>
                <a:latin typeface="Poppins Semi-Bold"/>
                <a:ea typeface="Poppins Semi-Bold"/>
                <a:cs typeface="Poppins Semi-Bold"/>
                <a:sym typeface="Poppins Semi-Bold"/>
              </a:rPr>
              <a:t> 🐍 PYTHON • SQL • POWER BI • TABLEAU</a:t>
            </a:r>
          </a:p>
          <a:p>
            <a:pPr algn="l">
              <a:lnSpc>
                <a:spcPts val="4030"/>
              </a:lnSpc>
              <a:spcBef>
                <a:spcPct val="0"/>
              </a:spcBef>
            </a:pPr>
            <a:r>
              <a:rPr lang="en-US" sz="2878" b="1" spc="-115" dirty="0">
                <a:gradFill>
                  <a:gsLst>
                    <a:gs pos="0">
                      <a:srgbClr val="785C3A">
                        <a:alpha val="100000"/>
                      </a:srgbClr>
                    </a:gs>
                    <a:gs pos="25000">
                      <a:srgbClr val="E2C29A">
                        <a:alpha val="100000"/>
                      </a:srgbClr>
                    </a:gs>
                    <a:gs pos="50000">
                      <a:srgbClr val="785C3A">
                        <a:alpha val="100000"/>
                      </a:srgbClr>
                    </a:gs>
                    <a:gs pos="75000">
                      <a:srgbClr val="AC8E68">
                        <a:alpha val="100000"/>
                      </a:srgbClr>
                    </a:gs>
                    <a:gs pos="100000">
                      <a:srgbClr val="785C3A">
                        <a:alpha val="100000"/>
                      </a:srgbClr>
                    </a:gs>
                  </a:gsLst>
                  <a:lin ang="5400000"/>
                </a:gradFill>
                <a:latin typeface="Poppins Semi-Bold"/>
                <a:ea typeface="Poppins Semi-Bold"/>
                <a:cs typeface="Poppins Semi-Bold"/>
                <a:sym typeface="Poppins Semi-Bold"/>
              </a:rPr>
              <a:t>📧 daweepkaur@gmail.com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129609" y="7964805"/>
            <a:ext cx="8028781" cy="1218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 b="1" spc="-288" dirty="0">
                <a:solidFill>
                  <a:srgbClr val="C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❤️</a:t>
            </a:r>
            <a:r>
              <a:rPr lang="en-US" sz="7200" b="1" spc="-288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THANK YOU! </a:t>
            </a:r>
            <a:r>
              <a:rPr lang="en-US" sz="7200" b="1" spc="-288" dirty="0">
                <a:solidFill>
                  <a:srgbClr val="C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❤️</a:t>
            </a:r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61D534FC-A13C-46F4-8797-8E272E9E1D8A}"/>
              </a:ext>
            </a:extLst>
          </p:cNvPr>
          <p:cNvSpPr/>
          <p:nvPr/>
        </p:nvSpPr>
        <p:spPr>
          <a:xfrm>
            <a:off x="16574718" y="8536723"/>
            <a:ext cx="1110882" cy="1443155"/>
          </a:xfrm>
          <a:custGeom>
            <a:avLst/>
            <a:gdLst/>
            <a:ahLst/>
            <a:cxnLst/>
            <a:rect l="l" t="t" r="r" b="b"/>
            <a:pathLst>
              <a:path w="1110882" h="1443155">
                <a:moveTo>
                  <a:pt x="0" y="0"/>
                </a:moveTo>
                <a:lnTo>
                  <a:pt x="1110882" y="0"/>
                </a:lnTo>
                <a:lnTo>
                  <a:pt x="1110882" y="1443154"/>
                </a:lnTo>
                <a:lnTo>
                  <a:pt x="0" y="1443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839</Words>
  <Application>Microsoft Office PowerPoint</Application>
  <PresentationFormat>Custom</PresentationFormat>
  <Paragraphs>119</Paragraphs>
  <Slides>13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Poppins</vt:lpstr>
      <vt:lpstr>Poppins Bold</vt:lpstr>
      <vt:lpstr>Montserrat Bold</vt:lpstr>
      <vt:lpstr>Montserrat Semi-Bold</vt:lpstr>
      <vt:lpstr>Arial</vt:lpstr>
      <vt:lpstr>Poppins Semi-Bold</vt:lpstr>
      <vt:lpstr>Calibri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Netflix_Insights_Presentation.pptx</dc:title>
  <dc:creator>dell</dc:creator>
  <cp:lastModifiedBy>daweepkaur@gmail.com</cp:lastModifiedBy>
  <cp:revision>16</cp:revision>
  <dcterms:created xsi:type="dcterms:W3CDTF">2006-08-16T00:00:00Z</dcterms:created>
  <dcterms:modified xsi:type="dcterms:W3CDTF">2026-01-02T19:56:31Z</dcterms:modified>
  <dc:identifier>DAG3WOcHYgo</dc:identifier>
</cp:coreProperties>
</file>